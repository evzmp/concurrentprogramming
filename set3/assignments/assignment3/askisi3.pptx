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0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18/12/2021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5424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3697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18/12/2021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18/12/2021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18/12/2021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2178604"/>
            <a:ext cx="10289309" cy="938584"/>
          </a:xfrm>
        </p:spPr>
        <p:txBody>
          <a:bodyPr>
            <a:normAutofit/>
          </a:bodyPr>
          <a:lstStyle/>
          <a:p>
            <a:r>
              <a:rPr lang="el-GR" dirty="0" smtClean="0"/>
              <a:t>Τρενάκι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προγράμματος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951345" y="1310102"/>
            <a:ext cx="10289308" cy="3627658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l-GR" sz="2000" dirty="0" smtClean="0"/>
              <a:t>Το</a:t>
            </a:r>
            <a:r>
              <a:rPr lang="en-US" sz="2000" dirty="0" smtClean="0"/>
              <a:t> train thread </a:t>
            </a:r>
            <a:r>
              <a:rPr lang="el-GR" sz="2000" dirty="0" smtClean="0"/>
              <a:t>προσπαθεί να γεμίσει όσα περισσότερα </a:t>
            </a:r>
            <a:r>
              <a:rPr lang="en-US" sz="2000" dirty="0" smtClean="0"/>
              <a:t>rides </a:t>
            </a:r>
            <a:r>
              <a:rPr lang="el-GR" sz="2000" dirty="0" smtClean="0"/>
              <a:t>μπορεί, με βάση τους επιβάτες που περιμένουν στο </a:t>
            </a:r>
            <a:r>
              <a:rPr lang="en-US" sz="2000" dirty="0" smtClean="0"/>
              <a:t>queue </a:t>
            </a:r>
            <a:r>
              <a:rPr lang="el-GR" sz="2000" dirty="0" smtClean="0"/>
              <a:t>του. Όταν ειδοποιήσουμε από την </a:t>
            </a:r>
            <a:r>
              <a:rPr lang="en-US" sz="2000" dirty="0" smtClean="0"/>
              <a:t>main </a:t>
            </a:r>
            <a:r>
              <a:rPr lang="el-GR" sz="2000" dirty="0" smtClean="0"/>
              <a:t>ότι </a:t>
            </a:r>
            <a:r>
              <a:rPr lang="el-GR" sz="2000" dirty="0" smtClean="0"/>
              <a:t>πρέπει να τερματίσει, το τρενάκι ειδοποιεί τους εναπομείναντες επιβάτες να τερματίσουν και στη συνέχεια το τελευταίο </a:t>
            </a:r>
            <a:r>
              <a:rPr lang="en-US" sz="2000" dirty="0" smtClean="0"/>
              <a:t>thread </a:t>
            </a:r>
            <a:r>
              <a:rPr lang="el-GR" sz="2000" dirty="0" smtClean="0"/>
              <a:t>που τερματίζει (είτε είναι το τρενάκι είτε ένας επιβάτης) κάνει </a:t>
            </a:r>
            <a:r>
              <a:rPr lang="en-US" sz="2000" dirty="0" smtClean="0"/>
              <a:t>signal </a:t>
            </a:r>
            <a:r>
              <a:rPr lang="el-GR" sz="2000" dirty="0" smtClean="0"/>
              <a:t>στη </a:t>
            </a:r>
            <a:r>
              <a:rPr lang="en-US" sz="2000" dirty="0" smtClean="0"/>
              <a:t>main </a:t>
            </a:r>
            <a:r>
              <a:rPr lang="el-GR" sz="2000" dirty="0" smtClean="0"/>
              <a:t>να ξεμπλοκάρει και να τερματίσει και αυτή.</a:t>
            </a:r>
            <a:endParaRPr lang="el-GR" sz="2000" dirty="0" smtClean="0"/>
          </a:p>
          <a:p>
            <a:pPr algn="l">
              <a:lnSpc>
                <a:spcPct val="130000"/>
              </a:lnSpc>
            </a:pPr>
            <a:r>
              <a:rPr lang="el-GR" sz="2000" dirty="0" smtClean="0"/>
              <a:t>Το κάθε </a:t>
            </a:r>
            <a:r>
              <a:rPr lang="en-US" sz="2000" dirty="0" smtClean="0"/>
              <a:t>thread-</a:t>
            </a:r>
            <a:r>
              <a:rPr lang="el-GR" sz="2000" dirty="0" smtClean="0"/>
              <a:t>επιβάτης περιμένει να επιβιβαστεί και όταν ο τελευταίος παρατηρήσει ότι το τρένο έχει γεμίσει ειδοποιεί το τρένο να ξεκινήσει το</a:t>
            </a:r>
            <a:r>
              <a:rPr lang="en-US" sz="2000" dirty="0"/>
              <a:t> </a:t>
            </a:r>
            <a:r>
              <a:rPr lang="el-GR" sz="2000" dirty="0" smtClean="0"/>
              <a:t>τρέχον</a:t>
            </a:r>
            <a:r>
              <a:rPr lang="en-US" sz="2000" dirty="0"/>
              <a:t> </a:t>
            </a:r>
            <a:r>
              <a:rPr lang="en-US" sz="2000" dirty="0" smtClean="0"/>
              <a:t>ride.</a:t>
            </a:r>
          </a:p>
          <a:p>
            <a:pPr algn="l">
              <a:lnSpc>
                <a:spcPct val="130000"/>
              </a:lnSpc>
            </a:pPr>
            <a:r>
              <a:rPr lang="el-GR" sz="2000" dirty="0" smtClean="0"/>
              <a:t>Λύνουμε τα </a:t>
            </a:r>
            <a:r>
              <a:rPr lang="en-US" sz="2000" dirty="0" smtClean="0"/>
              <a:t>race conditions </a:t>
            </a:r>
            <a:r>
              <a:rPr lang="el-GR" sz="2000" dirty="0" smtClean="0"/>
              <a:t>με </a:t>
            </a:r>
            <a:r>
              <a:rPr lang="el-GR" sz="2000" dirty="0" smtClean="0"/>
              <a:t>χρήση</a:t>
            </a:r>
            <a:r>
              <a:rPr lang="en-US" sz="2000" dirty="0"/>
              <a:t> </a:t>
            </a:r>
            <a:r>
              <a:rPr lang="en-US" sz="2000" dirty="0" smtClean="0"/>
              <a:t>condition variables </a:t>
            </a:r>
            <a:r>
              <a:rPr lang="el-GR" sz="2000" dirty="0" smtClean="0"/>
              <a:t>και ενός </a:t>
            </a:r>
            <a:r>
              <a:rPr lang="en-US" sz="2000" dirty="0" smtClean="0"/>
              <a:t>mutex</a:t>
            </a:r>
            <a:r>
              <a:rPr lang="el-GR" sz="2000" dirty="0" smtClean="0"/>
              <a:t>. </a:t>
            </a:r>
            <a:r>
              <a:rPr lang="el-GR" sz="2000" dirty="0" smtClean="0"/>
              <a:t>Μέσω του </a:t>
            </a:r>
            <a:r>
              <a:rPr lang="en-US" sz="2000" dirty="0" smtClean="0"/>
              <a:t>mutex </a:t>
            </a:r>
            <a:r>
              <a:rPr lang="el-GR" sz="2000" dirty="0" smtClean="0"/>
              <a:t>προστατεύουμε τις κρίσιμες μεταβλητές όπως το </a:t>
            </a:r>
            <a:r>
              <a:rPr lang="en-US" sz="2000" dirty="0" smtClean="0"/>
              <a:t>queue</a:t>
            </a:r>
            <a:r>
              <a:rPr lang="el-GR" sz="2000" dirty="0" smtClean="0"/>
              <a:t>, το </a:t>
            </a:r>
            <a:r>
              <a:rPr lang="en-US" sz="2000" dirty="0" smtClean="0"/>
              <a:t>capacity </a:t>
            </a:r>
            <a:r>
              <a:rPr lang="el-GR" sz="2000" dirty="0" smtClean="0"/>
              <a:t>και το </a:t>
            </a:r>
            <a:r>
              <a:rPr lang="en-US" sz="2000" dirty="0" smtClean="0"/>
              <a:t>num.</a:t>
            </a:r>
            <a:endParaRPr lang="el-GR" sz="2000" dirty="0"/>
          </a:p>
          <a:p>
            <a:pPr algn="l">
              <a:lnSpc>
                <a:spcPct val="130000"/>
              </a:lnSpc>
            </a:pPr>
            <a:endParaRPr lang="el-GR" sz="2000" dirty="0" smtClean="0"/>
          </a:p>
        </p:txBody>
      </p:sp>
    </p:spTree>
    <p:extLst>
      <p:ext uri="{BB962C8B-B14F-4D97-AF65-F5344CB8AC3E}">
        <p14:creationId xmlns:p14="http://schemas.microsoft.com/office/powerpoint/2010/main" val="110097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n-US" dirty="0" smtClean="0"/>
              <a:t>main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675059" y="1067385"/>
            <a:ext cx="10565593" cy="978967"/>
          </a:xfrm>
        </p:spPr>
        <p:txBody>
          <a:bodyPr>
            <a:noAutofit/>
          </a:bodyPr>
          <a:lstStyle/>
          <a:p>
            <a:pPr algn="l"/>
            <a:r>
              <a:rPr lang="el-GR" sz="2000" dirty="0" smtClean="0"/>
              <a:t>Δίνουμε στο </a:t>
            </a:r>
            <a:r>
              <a:rPr lang="en-US" sz="2000" dirty="0" smtClean="0"/>
              <a:t>main thread </a:t>
            </a:r>
            <a:r>
              <a:rPr lang="el-GR" sz="2000" dirty="0" smtClean="0"/>
              <a:t>έναν αριθμό επιβατών για να γεμίσει το </a:t>
            </a:r>
            <a:r>
              <a:rPr lang="en-US" sz="2000" dirty="0" smtClean="0"/>
              <a:t>queue. </a:t>
            </a:r>
            <a:r>
              <a:rPr lang="el-GR" sz="2000" dirty="0" smtClean="0"/>
              <a:t>Όταν στείλουμε </a:t>
            </a:r>
            <a:r>
              <a:rPr lang="en-US" sz="2000" dirty="0" smtClean="0"/>
              <a:t>EOF </a:t>
            </a:r>
            <a:r>
              <a:rPr lang="el-GR" sz="2000" dirty="0" smtClean="0"/>
              <a:t>η </a:t>
            </a:r>
            <a:r>
              <a:rPr lang="en-US" sz="2000" dirty="0" smtClean="0"/>
              <a:t>main</a:t>
            </a:r>
            <a:r>
              <a:rPr lang="el-GR" sz="2000" dirty="0" smtClean="0"/>
              <a:t> ειδοποιεί το </a:t>
            </a:r>
            <a:r>
              <a:rPr lang="el-GR" sz="2000" dirty="0" smtClean="0"/>
              <a:t>τρένο να τερματίσει και εκείνο με τη σειρά του ειδοποιεί τους </a:t>
            </a:r>
            <a:r>
              <a:rPr lang="el-GR" sz="2000" dirty="0" err="1" smtClean="0"/>
              <a:t>εναπομείνατες</a:t>
            </a:r>
            <a:r>
              <a:rPr lang="el-GR" sz="2000" dirty="0" smtClean="0"/>
              <a:t> επιβάτες να τερματίσουν.</a:t>
            </a:r>
            <a:endParaRPr lang="el-GR" sz="2000" dirty="0" smtClean="0"/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3472839" y="2380798"/>
            <a:ext cx="4970032" cy="2936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2000" dirty="0" smtClean="0"/>
              <a:t>while(1)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000" dirty="0"/>
              <a:t>	</a:t>
            </a:r>
            <a:r>
              <a:rPr lang="en-US" sz="2000" dirty="0" smtClean="0"/>
              <a:t>if(</a:t>
            </a:r>
            <a:r>
              <a:rPr lang="en-US" sz="2000" dirty="0" err="1" smtClean="0"/>
              <a:t>scanf</a:t>
            </a:r>
            <a:r>
              <a:rPr lang="en-US" sz="2000" dirty="0" smtClean="0"/>
              <a:t> == EOF) break;</a:t>
            </a:r>
          </a:p>
          <a:p>
            <a:pPr algn="l">
              <a:lnSpc>
                <a:spcPct val="50000"/>
              </a:lnSpc>
            </a:pPr>
            <a:r>
              <a:rPr lang="en-US" sz="2000" dirty="0"/>
              <a:t>	</a:t>
            </a:r>
            <a:r>
              <a:rPr lang="en-US" sz="2000" dirty="0" err="1" smtClean="0"/>
              <a:t>create_thread</a:t>
            </a:r>
            <a:r>
              <a:rPr lang="en-US" sz="2000" dirty="0" smtClean="0"/>
              <a:t>(passenger);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lock(mutex);</a:t>
            </a:r>
            <a:endParaRPr lang="en-US" sz="2000" dirty="0"/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on = 0;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signal(train);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wait(</a:t>
            </a:r>
            <a:r>
              <a:rPr lang="en-US" sz="2000" dirty="0" err="1" smtClean="0"/>
              <a:t>mainDone</a:t>
            </a:r>
            <a:r>
              <a:rPr lang="en-US" sz="20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2000" dirty="0" smtClean="0"/>
              <a:t>unlock(mutex);</a:t>
            </a:r>
          </a:p>
        </p:txBody>
      </p:sp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των </a:t>
            </a:r>
            <a:r>
              <a:rPr lang="en-US" dirty="0" smtClean="0"/>
              <a:t>passenger threads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7" y="1056729"/>
            <a:ext cx="9144000" cy="56955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l-GR" sz="2000" dirty="0" smtClean="0"/>
              <a:t>Οι επιβάτες μπαίνουν στο τρενάκι ένας </a:t>
            </a:r>
            <a:r>
              <a:rPr lang="el-GR" sz="2000" dirty="0" err="1" smtClean="0"/>
              <a:t>ένας</a:t>
            </a:r>
            <a:r>
              <a:rPr lang="el-GR" sz="2000" dirty="0" smtClean="0"/>
              <a:t> και ο τελευταίος (εκείνος που θα ανιχνεύσει ότι το τρενάκι έχει γεμίσει, ξυπνάει το</a:t>
            </a:r>
            <a:r>
              <a:rPr lang="en-US" sz="2000" dirty="0" smtClean="0"/>
              <a:t> train thread </a:t>
            </a:r>
            <a:r>
              <a:rPr lang="el-GR" sz="2000" dirty="0" smtClean="0"/>
              <a:t>για να ξεκινήσει το τρέχον </a:t>
            </a:r>
            <a:r>
              <a:rPr lang="en-US" sz="2000" dirty="0" smtClean="0"/>
              <a:t>ride.</a:t>
            </a:r>
            <a:endParaRPr lang="el-GR" sz="2000" dirty="0" smtClean="0"/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3201291" y="1815029"/>
            <a:ext cx="5789411" cy="4352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2200" dirty="0" smtClean="0"/>
              <a:t>lock(mutex);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queue++;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while(boarded &lt; capacity)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wait(passenger);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if(!on) break;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If(!on)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queue--;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if(queue == 0)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signal(</a:t>
            </a:r>
            <a:r>
              <a:rPr lang="en-US" sz="2200" dirty="0" err="1" smtClean="0"/>
              <a:t>mainDone</a:t>
            </a:r>
            <a:r>
              <a:rPr lang="en-US" sz="22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broadcast(passenger);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unlock(mutex);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	return;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queue--;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boarded++;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if(boarded == capacity) signal(train);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else signal(passenger);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unlock(mutex);</a:t>
            </a:r>
          </a:p>
          <a:p>
            <a:pPr algn="l">
              <a:lnSpc>
                <a:spcPct val="50000"/>
              </a:lnSpc>
            </a:pPr>
            <a:endParaRPr lang="el-GR" sz="2000" dirty="0" smtClean="0"/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του </a:t>
            </a:r>
            <a:r>
              <a:rPr lang="en-US" dirty="0" smtClean="0"/>
              <a:t>train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523997" y="1056729"/>
            <a:ext cx="9144000" cy="613701"/>
          </a:xfrm>
        </p:spPr>
        <p:txBody>
          <a:bodyPr>
            <a:normAutofit lnSpcReduction="10000"/>
          </a:bodyPr>
          <a:lstStyle/>
          <a:p>
            <a:pPr algn="l"/>
            <a:r>
              <a:rPr lang="el-GR" sz="2000" dirty="0" smtClean="0"/>
              <a:t>Το τρενάκι περιμένει να γεμίσει και όταν η </a:t>
            </a:r>
            <a:r>
              <a:rPr lang="en-US" sz="2000" dirty="0" smtClean="0"/>
              <a:t>main </a:t>
            </a:r>
            <a:r>
              <a:rPr lang="el-GR" sz="2000" dirty="0" smtClean="0"/>
              <a:t>το ειδοποιήσει να τερματίσει, λέει στους εναπομείναντες επιβάτες στο </a:t>
            </a:r>
            <a:r>
              <a:rPr lang="en-US" sz="2000" dirty="0" smtClean="0"/>
              <a:t>queue </a:t>
            </a:r>
            <a:r>
              <a:rPr lang="el-GR" sz="2000" dirty="0" smtClean="0"/>
              <a:t>να τερματίσουν και αυτοί.</a:t>
            </a:r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1785769" y="1815029"/>
            <a:ext cx="8735210" cy="4352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2200" dirty="0" smtClean="0"/>
              <a:t>while(1)</a:t>
            </a:r>
          </a:p>
          <a:p>
            <a:pPr algn="l">
              <a:lnSpc>
                <a:spcPct val="50000"/>
              </a:lnSpc>
            </a:pPr>
            <a:r>
              <a:rPr lang="en-US" sz="22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lock(mutex);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while(on &amp;&amp; boarded &lt; capacity)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wait(train);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if(!on) break;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if(!on)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if(queue != 0) signal(passenger);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else signal(</a:t>
            </a:r>
            <a:r>
              <a:rPr lang="en-US" sz="2200" dirty="0" err="1" smtClean="0"/>
              <a:t>mainDone</a:t>
            </a:r>
            <a:r>
              <a:rPr lang="en-US" sz="22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unlock(mutex);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	break;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unlock(mutex);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>
                <a:solidFill>
                  <a:schemeClr val="bg1">
                    <a:lumMod val="65000"/>
                  </a:schemeClr>
                </a:solidFill>
              </a:rPr>
              <a:t>// sleep for train ride duration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boarded = 0;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	</a:t>
            </a:r>
            <a:r>
              <a:rPr lang="en-US" sz="2200" dirty="0" smtClean="0"/>
              <a:t>signal(passenger);</a:t>
            </a:r>
          </a:p>
          <a:p>
            <a:pPr algn="l">
              <a:lnSpc>
                <a:spcPct val="50000"/>
              </a:lnSpc>
            </a:pPr>
            <a:r>
              <a:rPr lang="en-US" sz="2200" dirty="0"/>
              <a:t>}</a:t>
            </a:r>
            <a:endParaRPr lang="en-US" sz="2200" dirty="0" smtClean="0"/>
          </a:p>
          <a:p>
            <a:pPr algn="l">
              <a:lnSpc>
                <a:spcPct val="50000"/>
              </a:lnSpc>
            </a:pPr>
            <a:endParaRPr lang="el-GR" sz="2000" dirty="0" smtClean="0"/>
          </a:p>
        </p:txBody>
      </p:sp>
    </p:spTree>
    <p:extLst>
      <p:ext uri="{BB962C8B-B14F-4D97-AF65-F5344CB8AC3E}">
        <p14:creationId xmlns:p14="http://schemas.microsoft.com/office/powerpoint/2010/main" val="3287400801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279</Words>
  <Application>Microsoft Office PowerPoint</Application>
  <PresentationFormat>Ευρεία οθόνη</PresentationFormat>
  <Paragraphs>74</Paragraphs>
  <Slides>5</Slides>
  <Notes>5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Θέμα του Office</vt:lpstr>
      <vt:lpstr>Τρενάκι</vt:lpstr>
      <vt:lpstr>Λειτουργία προγράμματος</vt:lpstr>
      <vt:lpstr>Λειτουργία main</vt:lpstr>
      <vt:lpstr>Λειτουργία των passenger threads</vt:lpstr>
      <vt:lpstr>Λειτουργία του train thread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42</cp:revision>
  <dcterms:created xsi:type="dcterms:W3CDTF">2021-11-01T11:33:56Z</dcterms:created>
  <dcterms:modified xsi:type="dcterms:W3CDTF">2021-12-18T18:31:18Z</dcterms:modified>
</cp:coreProperties>
</file>