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9" r:id="rId4"/>
    <p:sldId id="260" r:id="rId5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27/11/2021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5424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27/11/2021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27/11/2021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27/11/2021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1509680"/>
            <a:ext cx="10289309" cy="160750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Multithreaded prime calculation with binary semaphores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Αναλογία με παραγωγό-καταναλωτή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296932" y="1310102"/>
            <a:ext cx="9598132" cy="1936326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Παρατηρούμε άμεσα ότι πρόκειται για πρόβλημα ενός παραγωγού και πολλών καταναλωτών με </a:t>
            </a:r>
            <a:r>
              <a:rPr lang="en-US" sz="1800" dirty="0" smtClean="0"/>
              <a:t>buffer </a:t>
            </a:r>
            <a:r>
              <a:rPr lang="el-GR" sz="1800" dirty="0" smtClean="0"/>
              <a:t>μεγέθους ενός στοιχείου.</a:t>
            </a:r>
          </a:p>
          <a:p>
            <a:pPr algn="l"/>
            <a:r>
              <a:rPr lang="el-GR" sz="1800" dirty="0" smtClean="0"/>
              <a:t>Τα </a:t>
            </a:r>
            <a:r>
              <a:rPr lang="en-US" sz="1800" dirty="0"/>
              <a:t>race conditions </a:t>
            </a:r>
            <a:r>
              <a:rPr lang="el-GR" sz="1800" dirty="0"/>
              <a:t>που παρατηρούμε είναι </a:t>
            </a:r>
            <a:r>
              <a:rPr lang="el-GR" sz="1800" dirty="0" smtClean="0"/>
              <a:t>ότι ο κάθε καταναλωτής πρέπει να λαμβάνει μία μοναδική τιμή για να επεξεργαστεί και να μη χάνονται ενδιάμεσες τιμές.</a:t>
            </a:r>
          </a:p>
          <a:p>
            <a:pPr algn="l"/>
            <a:r>
              <a:rPr lang="el-GR" sz="1800" dirty="0" smtClean="0"/>
              <a:t>Για να αποφύγουμε τα </a:t>
            </a:r>
            <a:r>
              <a:rPr lang="en-US" sz="1800" dirty="0" smtClean="0"/>
              <a:t>rac</a:t>
            </a:r>
            <a:r>
              <a:rPr lang="en-US" sz="1800" dirty="0" smtClean="0"/>
              <a:t>e conditions </a:t>
            </a:r>
            <a:r>
              <a:rPr lang="el-GR" sz="1800" dirty="0" smtClean="0"/>
              <a:t>χρησιμοποιούμε τους δυαδικούς σηματοφόρους μας.</a:t>
            </a: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110097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n-US" dirty="0" smtClean="0"/>
              <a:t>main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675059" y="1067385"/>
            <a:ext cx="10565593" cy="978967"/>
          </a:xfrm>
        </p:spPr>
        <p:txBody>
          <a:bodyPr>
            <a:noAutofit/>
          </a:bodyPr>
          <a:lstStyle/>
          <a:p>
            <a:pPr algn="l"/>
            <a:r>
              <a:rPr lang="el-GR" sz="2000" dirty="0" smtClean="0"/>
              <a:t>Το </a:t>
            </a:r>
            <a:r>
              <a:rPr lang="en-US" sz="2000" dirty="0" smtClean="0"/>
              <a:t>main thread </a:t>
            </a:r>
            <a:r>
              <a:rPr lang="el-GR" sz="2000" dirty="0" smtClean="0"/>
              <a:t>λειτουργεί ως παραγωγός. </a:t>
            </a:r>
            <a:r>
              <a:rPr lang="el-GR" sz="2000" dirty="0"/>
              <a:t>Δ</a:t>
            </a:r>
            <a:r>
              <a:rPr lang="el-GR" sz="2000" dirty="0" smtClean="0"/>
              <a:t>ιαβάζει τιμές από την είσοδο </a:t>
            </a:r>
            <a:r>
              <a:rPr lang="en-US" sz="2000" dirty="0" err="1" smtClean="0"/>
              <a:t>stdin</a:t>
            </a:r>
            <a:r>
              <a:rPr lang="en-US" sz="2000" dirty="0" smtClean="0"/>
              <a:t> </a:t>
            </a:r>
            <a:r>
              <a:rPr lang="el-GR" sz="2000" dirty="0" smtClean="0"/>
              <a:t>και όσο δεν ανιχνεύσει </a:t>
            </a:r>
            <a:r>
              <a:rPr lang="en-US" sz="2000" dirty="0" smtClean="0"/>
              <a:t>EOF </a:t>
            </a:r>
            <a:r>
              <a:rPr lang="el-GR" sz="2000" dirty="0" smtClean="0"/>
              <a:t>δίνει την τιμή που διαβάζει στον επόμενο διαθέσιμο </a:t>
            </a:r>
            <a:r>
              <a:rPr lang="en-US" sz="2000" dirty="0" smtClean="0"/>
              <a:t>worker, </a:t>
            </a:r>
            <a:r>
              <a:rPr lang="el-GR" sz="2000" dirty="0" smtClean="0"/>
              <a:t>χρησιμοποιώντας σηματοφόρους για να αποφευχθούν τα </a:t>
            </a:r>
            <a:r>
              <a:rPr lang="en-US" sz="2000" dirty="0" smtClean="0"/>
              <a:t>race conditions.</a:t>
            </a:r>
            <a:endParaRPr lang="el-GR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147355" y="2286982"/>
            <a:ext cx="5897286" cy="3416320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= </a:t>
            </a:r>
            <a:r>
              <a:rPr lang="en-US" dirty="0" smtClean="0">
                <a:solidFill>
                  <a:srgbClr val="B5CEA8"/>
                </a:solidFill>
                <a:latin typeface="Source Code Pro" panose="020B0509030403020204" pitchFamily="49" charset="0"/>
              </a:rPr>
              <a:t>0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while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scanf</a:t>
            </a:r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(temp) 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!= </a:t>
            </a:r>
            <a:r>
              <a:rPr lang="en-US" dirty="0">
                <a:solidFill>
                  <a:srgbClr val="569CD6"/>
                </a:solidFill>
                <a:latin typeface="Source Code Pro" panose="020B0509030403020204" pitchFamily="49" charset="0"/>
              </a:rPr>
              <a:t>EOF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down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empty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down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mtx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	</a:t>
            </a:r>
            <a:r>
              <a:rPr lang="en-US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worker_value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= </a:t>
            </a:r>
            <a:r>
              <a:rPr lang="en-US" dirty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up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mtx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up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full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}</a:t>
            </a:r>
            <a:endParaRPr lang="en-US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n-US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on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= </a:t>
            </a:r>
            <a:r>
              <a:rPr lang="en-US" dirty="0">
                <a:solidFill>
                  <a:srgbClr val="B5CEA8"/>
                </a:solidFill>
                <a:latin typeface="Source Code Pro" panose="020B050903040302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</a:p>
          <a:p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mtx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full</a:t>
            </a:r>
            <a:r>
              <a:rPr lang="en-US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b="0" dirty="0">
              <a:solidFill>
                <a:srgbClr val="D4D4D4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του </a:t>
            </a:r>
            <a:r>
              <a:rPr lang="en-US" dirty="0" smtClean="0"/>
              <a:t>worker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7" y="1056730"/>
            <a:ext cx="9144000" cy="464936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Το </a:t>
            </a:r>
            <a:r>
              <a:rPr lang="en-US" sz="2000" dirty="0" smtClean="0"/>
              <a:t>worker thread</a:t>
            </a:r>
            <a:r>
              <a:rPr lang="el-GR" sz="2000" dirty="0" smtClean="0"/>
              <a:t> λειτουργεί ως καταναλωτής:</a:t>
            </a:r>
            <a:endParaRPr lang="el-GR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72051" y="1751233"/>
            <a:ext cx="10847891" cy="4278094"/>
          </a:xfrm>
          <a:prstGeom prst="rect">
            <a:avLst/>
          </a:prstGeom>
          <a:solidFill>
            <a:srgbClr val="333333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while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on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</a:p>
          <a:p>
            <a:r>
              <a:rPr lang="el-GR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full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n-US" sz="16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(!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on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</a:t>
            </a:r>
            <a:endParaRPr lang="en-US" sz="16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{</a:t>
            </a:r>
            <a:endParaRPr lang="el-GR" sz="1600" dirty="0" smtClean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l-GR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full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l-GR" sz="1600" dirty="0" smtClean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l-GR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break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  <a:endParaRPr lang="el-GR" sz="1600" dirty="0" smtClean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}</a:t>
            </a:r>
            <a:endParaRPr lang="en-US" sz="16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down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mtx</a:t>
            </a:r>
            <a:r>
              <a:rPr lang="en-US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l-GR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= </a:t>
            </a:r>
            <a:r>
              <a:rPr lang="en-US" sz="16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worker_value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;</a:t>
            </a:r>
            <a:endParaRPr lang="en-US" sz="1600" dirty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err="1" smtClean="0">
                <a:solidFill>
                  <a:srgbClr val="9CDCFE"/>
                </a:solidFill>
                <a:latin typeface="Source Code Pro" panose="020B0509030403020204" pitchFamily="49" charset="0"/>
              </a:rPr>
              <a:t>mtx</a:t>
            </a:r>
            <a:r>
              <a:rPr lang="en-US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l-GR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DCDCAA"/>
                </a:solidFill>
                <a:latin typeface="Source Code Pro" panose="020B0509030403020204" pitchFamily="49" charset="0"/>
              </a:rPr>
              <a:t>up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empty</a:t>
            </a:r>
            <a:r>
              <a:rPr lang="en-US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l-GR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if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isPrime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Source Code Pro" panose="020B0509030403020204" pitchFamily="49" charset="0"/>
              </a:rPr>
              <a:t>temp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))</a:t>
            </a:r>
            <a:endParaRPr lang="el-GR" sz="1600" dirty="0" smtClean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l-GR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printf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Source Code Pro" panose="020B0509030403020204" pitchFamily="49" charset="0"/>
              </a:rPr>
              <a:t>“Is prime”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  <a:endParaRPr lang="el-GR" sz="1600" dirty="0" smtClean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smtClean="0">
                <a:solidFill>
                  <a:srgbClr val="C586C0"/>
                </a:solidFill>
                <a:latin typeface="Source Code Pro" panose="020B0509030403020204" pitchFamily="49" charset="0"/>
              </a:rPr>
              <a:t>else</a:t>
            </a:r>
            <a:endParaRPr lang="el-GR" sz="1600" dirty="0" smtClean="0">
              <a:solidFill>
                <a:srgbClr val="D4D4D4"/>
              </a:solidFill>
              <a:latin typeface="Source Code Pro" panose="020B0509030403020204" pitchFamily="49" charset="0"/>
            </a:endParaRPr>
          </a:p>
          <a:p>
            <a:r>
              <a:rPr lang="el-GR" sz="1600" dirty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l-GR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	</a:t>
            </a:r>
            <a:r>
              <a:rPr lang="en-US" sz="1600" dirty="0" err="1" smtClean="0">
                <a:solidFill>
                  <a:srgbClr val="DCDCAA"/>
                </a:solidFill>
                <a:latin typeface="Source Code Pro" panose="020B0509030403020204" pitchFamily="49" charset="0"/>
              </a:rPr>
              <a:t>printf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Source Code Pro" panose="020B0509030403020204" pitchFamily="49" charset="0"/>
              </a:rPr>
              <a:t>“Is not”</a:t>
            </a:r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D4D4D4"/>
                </a:solidFill>
                <a:latin typeface="Source Code Pro" panose="020B0509030403020204" pitchFamily="49" charset="0"/>
              </a:rPr>
              <a:t>}</a:t>
            </a:r>
            <a:endParaRPr lang="en-US" sz="1600" b="0" dirty="0">
              <a:solidFill>
                <a:srgbClr val="D4D4D4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157</Words>
  <Application>Microsoft Office PowerPoint</Application>
  <PresentationFormat>Ευρεία οθόνη</PresentationFormat>
  <Paragraphs>48</Paragraphs>
  <Slides>4</Slides>
  <Notes>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Source Code Pro</vt:lpstr>
      <vt:lpstr>Θέμα του Office</vt:lpstr>
      <vt:lpstr>Multithreaded prime calculation with binary semaphores</vt:lpstr>
      <vt:lpstr>Αναλογία με παραγωγό-καταναλωτή</vt:lpstr>
      <vt:lpstr>Λειτουργία main</vt:lpstr>
      <vt:lpstr>Λειτουργία του worker thread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29</cp:revision>
  <dcterms:created xsi:type="dcterms:W3CDTF">2021-11-01T11:33:56Z</dcterms:created>
  <dcterms:modified xsi:type="dcterms:W3CDTF">2021-11-27T10:49:52Z</dcterms:modified>
</cp:coreProperties>
</file>