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1" r:id="rId3"/>
    <p:sldId id="259" r:id="rId4"/>
    <p:sldId id="260" r:id="rId5"/>
    <p:sldId id="262" r:id="rId6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Μεσαίο στυλ 2 - Έμφαση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Μεσαίο στυλ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48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54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33C0D5-E1F5-481E-9596-330DB891AFA2}" type="datetimeFigureOut">
              <a:rPr lang="el-GR" smtClean="0"/>
              <a:t>27/11/2021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60A052-7942-41CF-B178-D636C489F9C1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42685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25999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2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554242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3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980200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4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891438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5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536978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 smtClean="0"/>
              <a:t>Στυλ κύριου υπότιτλου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D64B-0F15-4039-8FBC-72B45DC644A7}" type="datetime1">
              <a:rPr lang="el-GR" smtClean="0"/>
              <a:t>27/11/2021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62207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FA996-A19B-4BDD-A82C-AB08C8E38545}" type="datetime1">
              <a:rPr lang="el-GR" smtClean="0"/>
              <a:t>27/11/2021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89293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4F0F1-95E1-4D7E-B2B4-E3024FFE3E67}" type="datetime1">
              <a:rPr lang="el-GR" smtClean="0"/>
              <a:t>27/11/2021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83866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περιεχομένου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A38B7-B1B5-492F-8AE5-DA4F3996A54C}" type="datetime1">
              <a:rPr lang="el-GR" smtClean="0"/>
              <a:t>27/11/2021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58451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5" name="Θέση κειμένου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6" name="Θέση περιεχομένου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7" name="Θέση ημερομηνίας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D118C-8210-4532-ACDD-520B2862F8DC}" type="datetime1">
              <a:rPr lang="el-GR" smtClean="0"/>
              <a:t>27/11/2021</a:t>
            </a:fld>
            <a:endParaRPr lang="el-GR"/>
          </a:p>
        </p:txBody>
      </p:sp>
      <p:sp>
        <p:nvSpPr>
          <p:cNvPr id="8" name="Θέση υποσέλιδου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9" name="Θέση αριθμού διαφάνειας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75293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54A3F-8F91-4092-AD6D-5981F420888C}" type="datetime1">
              <a:rPr lang="el-GR" smtClean="0"/>
              <a:t>27/11/2021</a:t>
            </a:fld>
            <a:endParaRPr lang="el-GR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41557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54BBB-9B88-4C2A-99DC-6177C00EE0F1}" type="datetime1">
              <a:rPr lang="el-GR" smtClean="0"/>
              <a:t>27/11/2021</a:t>
            </a:fld>
            <a:endParaRPr lang="el-GR"/>
          </a:p>
        </p:txBody>
      </p:sp>
      <p:sp>
        <p:nvSpPr>
          <p:cNvPr id="3" name="Θέση υποσέλιδου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88151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236A0-F61F-4AEF-980A-7EA8613CC92E}" type="datetime1">
              <a:rPr lang="el-GR" smtClean="0"/>
              <a:t>27/11/2021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34559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εικόνας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AA5A8-D45B-4F9D-9132-15C5B3A1F61B}" type="datetime1">
              <a:rPr lang="el-GR" smtClean="0"/>
              <a:t>27/11/2021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3101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98249-7372-42C7-B177-5B4F7B050731}" type="datetime1">
              <a:rPr lang="el-GR" smtClean="0"/>
              <a:t>27/11/2021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83631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DDA62-E08B-49AC-BE9B-042B458506FD}" type="datetime1">
              <a:rPr lang="el-GR" smtClean="0"/>
              <a:t>27/11/2021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13697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DD8AF-4072-45F5-8FAB-F082D1787B4C}" type="datetime1">
              <a:rPr lang="el-GR" smtClean="0"/>
              <a:t>27/11/2021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09923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131" y="2178604"/>
            <a:ext cx="10289309" cy="938584"/>
          </a:xfrm>
        </p:spPr>
        <p:txBody>
          <a:bodyPr>
            <a:normAutofit/>
          </a:bodyPr>
          <a:lstStyle/>
          <a:p>
            <a:r>
              <a:rPr lang="el-GR" dirty="0" smtClean="0"/>
              <a:t>Τρενάκι</a:t>
            </a:r>
            <a:endParaRPr lang="el-GR" dirty="0"/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17649" y="3257550"/>
            <a:ext cx="9144000" cy="692727"/>
          </a:xfrm>
        </p:spPr>
        <p:txBody>
          <a:bodyPr/>
          <a:lstStyle/>
          <a:p>
            <a:r>
              <a:rPr lang="en-US" sz="1800" dirty="0" err="1" smtClean="0"/>
              <a:t>Evangelos</a:t>
            </a:r>
            <a:r>
              <a:rPr lang="en-US" sz="1800" dirty="0" smtClean="0"/>
              <a:t> </a:t>
            </a:r>
            <a:r>
              <a:rPr lang="en-US" sz="1800" dirty="0" err="1" smtClean="0"/>
              <a:t>Zampras</a:t>
            </a:r>
            <a:r>
              <a:rPr lang="en-US" sz="1800" dirty="0"/>
              <a:t> </a:t>
            </a:r>
            <a:r>
              <a:rPr lang="en-US" sz="1800" dirty="0" smtClean="0"/>
              <a:t>| </a:t>
            </a:r>
            <a:r>
              <a:rPr lang="en-US" sz="1800" dirty="0" err="1" smtClean="0"/>
              <a:t>Evangelos</a:t>
            </a:r>
            <a:r>
              <a:rPr lang="en-US" sz="1800" dirty="0" smtClean="0"/>
              <a:t> </a:t>
            </a:r>
            <a:r>
              <a:rPr lang="en-US" sz="1800" dirty="0" err="1" smtClean="0"/>
              <a:t>Balamotis</a:t>
            </a:r>
            <a:endParaRPr lang="en-US" sz="1800" dirty="0" smtClean="0"/>
          </a:p>
          <a:p>
            <a:r>
              <a:rPr lang="en-US" sz="1600" dirty="0" smtClean="0"/>
              <a:t>ECE, University of Thessaly</a:t>
            </a:r>
            <a:endParaRPr lang="el-GR" sz="1600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713250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l-GR" dirty="0" smtClean="0"/>
              <a:t>Λειτουργία προγράμματος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7" name="Υπότιτλος 6"/>
          <p:cNvSpPr>
            <a:spLocks noGrp="1"/>
          </p:cNvSpPr>
          <p:nvPr>
            <p:ph type="subTitle" idx="1"/>
          </p:nvPr>
        </p:nvSpPr>
        <p:spPr>
          <a:xfrm>
            <a:off x="951345" y="1310102"/>
            <a:ext cx="10289308" cy="3679208"/>
          </a:xfrm>
        </p:spPr>
        <p:txBody>
          <a:bodyPr>
            <a:normAutofit/>
          </a:bodyPr>
          <a:lstStyle/>
          <a:p>
            <a:pPr algn="l"/>
            <a:r>
              <a:rPr lang="el-GR" sz="2000" dirty="0" smtClean="0"/>
              <a:t>Το</a:t>
            </a:r>
            <a:r>
              <a:rPr lang="en-US" sz="2000" dirty="0" smtClean="0"/>
              <a:t> train thread </a:t>
            </a:r>
            <a:r>
              <a:rPr lang="el-GR" sz="2000" dirty="0" smtClean="0"/>
              <a:t>προσπαθεί να γεμίσει όσα περισσότερα </a:t>
            </a:r>
            <a:r>
              <a:rPr lang="en-US" sz="2000" dirty="0" smtClean="0"/>
              <a:t>rides </a:t>
            </a:r>
            <a:r>
              <a:rPr lang="el-GR" sz="2000" dirty="0" smtClean="0"/>
              <a:t>μπορεί, με βάση τους επιβάτες που περιμένουν στο </a:t>
            </a:r>
            <a:r>
              <a:rPr lang="en-US" sz="2000" dirty="0" smtClean="0"/>
              <a:t>queue </a:t>
            </a:r>
            <a:r>
              <a:rPr lang="el-GR" sz="2000" dirty="0" smtClean="0"/>
              <a:t>του. Όταν ειδοποιήσουμε από την </a:t>
            </a:r>
            <a:r>
              <a:rPr lang="en-US" sz="2000" dirty="0" smtClean="0"/>
              <a:t>main </a:t>
            </a:r>
            <a:r>
              <a:rPr lang="el-GR" sz="2000" dirty="0" smtClean="0"/>
              <a:t>ότι δεν υπάρχουν άλλοι επιβάτες, το τρενάκι ολοκληρώνει όλα τα </a:t>
            </a:r>
            <a:r>
              <a:rPr lang="en-US" sz="2000" dirty="0" smtClean="0"/>
              <a:t>rides </a:t>
            </a:r>
            <a:r>
              <a:rPr lang="el-GR" sz="2000" dirty="0" smtClean="0"/>
              <a:t>που απομένουν και μετά εξέρχεται της ρουτίνας του.</a:t>
            </a:r>
            <a:endParaRPr lang="el-GR" sz="2000" dirty="0" smtClean="0"/>
          </a:p>
          <a:p>
            <a:pPr algn="l"/>
            <a:r>
              <a:rPr lang="el-GR" sz="2000" dirty="0" smtClean="0"/>
              <a:t>Το κάθε </a:t>
            </a:r>
            <a:r>
              <a:rPr lang="en-US" sz="2000" dirty="0" smtClean="0"/>
              <a:t>thread-</a:t>
            </a:r>
            <a:r>
              <a:rPr lang="el-GR" sz="2000" dirty="0" smtClean="0"/>
              <a:t>επιβάτης περιμένει να επιβιβαστεί και όταν ο τελευταίος παρατηρήσει ότι το τρένο έχει γεμίσει ειδοποιεί το τρένο να ξεκινήσει το</a:t>
            </a:r>
            <a:r>
              <a:rPr lang="en-US" sz="2000" dirty="0"/>
              <a:t> </a:t>
            </a:r>
            <a:r>
              <a:rPr lang="el-GR" sz="2000" dirty="0" smtClean="0"/>
              <a:t>τρέχον</a:t>
            </a:r>
            <a:r>
              <a:rPr lang="en-US" sz="2000" dirty="0"/>
              <a:t> </a:t>
            </a:r>
            <a:r>
              <a:rPr lang="en-US" sz="2000" dirty="0" smtClean="0"/>
              <a:t>ride.</a:t>
            </a:r>
          </a:p>
          <a:p>
            <a:pPr algn="l"/>
            <a:r>
              <a:rPr lang="el-GR" sz="2000" dirty="0" smtClean="0"/>
              <a:t>Λύνουμε τα </a:t>
            </a:r>
            <a:r>
              <a:rPr lang="en-US" sz="2000" dirty="0" smtClean="0"/>
              <a:t>race conditions </a:t>
            </a:r>
            <a:r>
              <a:rPr lang="el-GR" sz="2000" dirty="0" smtClean="0"/>
              <a:t>με χρήση των σηματοφόρων. Μέσω του </a:t>
            </a:r>
            <a:r>
              <a:rPr lang="en-US" sz="2000" dirty="0" err="1" smtClean="0"/>
              <a:t>mutex</a:t>
            </a:r>
            <a:r>
              <a:rPr lang="en-US" sz="2000" dirty="0" smtClean="0"/>
              <a:t> </a:t>
            </a:r>
            <a:r>
              <a:rPr lang="el-GR" sz="2000" dirty="0" smtClean="0"/>
              <a:t>προστατεύουμε τις κρίσιμες μεταβλητές όπως το </a:t>
            </a:r>
            <a:r>
              <a:rPr lang="en-US" sz="2000" dirty="0" smtClean="0"/>
              <a:t>queue</a:t>
            </a:r>
            <a:r>
              <a:rPr lang="el-GR" sz="2000" dirty="0" smtClean="0"/>
              <a:t>, το </a:t>
            </a:r>
            <a:r>
              <a:rPr lang="en-US" sz="2000" dirty="0" smtClean="0"/>
              <a:t>capacity </a:t>
            </a:r>
            <a:r>
              <a:rPr lang="el-GR" sz="2000" dirty="0" smtClean="0"/>
              <a:t>και το </a:t>
            </a:r>
            <a:r>
              <a:rPr lang="en-US" sz="2000" dirty="0" smtClean="0"/>
              <a:t>num.</a:t>
            </a:r>
            <a:endParaRPr lang="el-GR" sz="2000" dirty="0"/>
          </a:p>
          <a:p>
            <a:pPr algn="l"/>
            <a:endParaRPr lang="el-GR" sz="2000" dirty="0" smtClean="0"/>
          </a:p>
        </p:txBody>
      </p:sp>
    </p:spTree>
    <p:extLst>
      <p:ext uri="{BB962C8B-B14F-4D97-AF65-F5344CB8AC3E}">
        <p14:creationId xmlns:p14="http://schemas.microsoft.com/office/powerpoint/2010/main" val="1100971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l-GR" dirty="0" smtClean="0"/>
              <a:t>Λειτουργία </a:t>
            </a:r>
            <a:r>
              <a:rPr lang="en-US" dirty="0" smtClean="0"/>
              <a:t>main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7" name="Υπότιτλος 6"/>
          <p:cNvSpPr>
            <a:spLocks noGrp="1"/>
          </p:cNvSpPr>
          <p:nvPr>
            <p:ph type="subTitle" idx="1"/>
          </p:nvPr>
        </p:nvSpPr>
        <p:spPr>
          <a:xfrm>
            <a:off x="675059" y="1067385"/>
            <a:ext cx="10565593" cy="978967"/>
          </a:xfrm>
        </p:spPr>
        <p:txBody>
          <a:bodyPr>
            <a:noAutofit/>
          </a:bodyPr>
          <a:lstStyle/>
          <a:p>
            <a:pPr algn="l"/>
            <a:r>
              <a:rPr lang="el-GR" sz="2000" dirty="0" smtClean="0"/>
              <a:t>Δίνουμε στο </a:t>
            </a:r>
            <a:r>
              <a:rPr lang="en-US" sz="2000" dirty="0" smtClean="0"/>
              <a:t>main thread </a:t>
            </a:r>
            <a:r>
              <a:rPr lang="el-GR" sz="2000" dirty="0" smtClean="0"/>
              <a:t>έναν αριθμό επιβατών για να γεμίσε</a:t>
            </a:r>
            <a:r>
              <a:rPr lang="el-GR" sz="2000" dirty="0" smtClean="0"/>
              <a:t>ι το </a:t>
            </a:r>
            <a:r>
              <a:rPr lang="en-US" sz="2000" dirty="0" smtClean="0"/>
              <a:t>queue. </a:t>
            </a:r>
            <a:r>
              <a:rPr lang="el-GR" sz="2000" dirty="0" smtClean="0"/>
              <a:t>Όταν στείλουμε </a:t>
            </a:r>
            <a:r>
              <a:rPr lang="en-US" sz="2000" dirty="0" smtClean="0"/>
              <a:t>EOF </a:t>
            </a:r>
            <a:r>
              <a:rPr lang="el-GR" sz="2000" dirty="0" smtClean="0"/>
              <a:t>η </a:t>
            </a:r>
            <a:r>
              <a:rPr lang="en-US" sz="2000" dirty="0" smtClean="0"/>
              <a:t>main</a:t>
            </a:r>
            <a:r>
              <a:rPr lang="el-GR" sz="2000" dirty="0" smtClean="0"/>
              <a:t> ειδοποιεί το τρένο να ολοκληρώσει όλα τα πλήρη </a:t>
            </a:r>
            <a:r>
              <a:rPr lang="en-US" sz="2000" dirty="0" smtClean="0"/>
              <a:t>rides </a:t>
            </a:r>
            <a:r>
              <a:rPr lang="el-GR" sz="2000" dirty="0" smtClean="0"/>
              <a:t>που απομένουν με βάση το </a:t>
            </a:r>
            <a:r>
              <a:rPr lang="en-US" sz="2000" dirty="0" smtClean="0"/>
              <a:t>queue </a:t>
            </a:r>
            <a:r>
              <a:rPr lang="el-GR" sz="2000" dirty="0" smtClean="0"/>
              <a:t>και στη συνέχεια να τερματίσει.</a:t>
            </a:r>
            <a:endParaRPr lang="el-GR" sz="20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1313300" y="2147918"/>
            <a:ext cx="10248644" cy="3416320"/>
          </a:xfrm>
          <a:prstGeom prst="rect">
            <a:avLst/>
          </a:prstGeom>
          <a:solidFill>
            <a:srgbClr val="333333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586C0"/>
                </a:solidFill>
                <a:latin typeface="Source Code Pro" panose="020B0509030403020204" pitchFamily="49" charset="0"/>
              </a:rPr>
              <a:t>while</a:t>
            </a:r>
            <a:r>
              <a:rPr lang="en-US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dirty="0" smtClean="0">
                <a:solidFill>
                  <a:srgbClr val="B5CEA8"/>
                </a:solidFill>
                <a:latin typeface="Source Code Pro" panose="020B0509030403020204" pitchFamily="49" charset="0"/>
              </a:rPr>
              <a:t>true</a:t>
            </a:r>
            <a:r>
              <a:rPr lang="en-US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)</a:t>
            </a:r>
            <a:endParaRPr lang="en-US" dirty="0">
              <a:solidFill>
                <a:srgbClr val="D4D4D4"/>
              </a:solidFill>
              <a:latin typeface="Source Code Pro" panose="020B0509030403020204" pitchFamily="49" charset="0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{</a:t>
            </a:r>
            <a:endParaRPr lang="en-US" dirty="0">
              <a:solidFill>
                <a:srgbClr val="D4D4D4"/>
              </a:solidFill>
              <a:latin typeface="Source Code Pro" panose="020B050903040302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Source Code Pro" panose="020B0509030403020204" pitchFamily="49" charset="0"/>
              </a:rPr>
              <a:t>        </a:t>
            </a:r>
            <a:r>
              <a:rPr lang="en-US" dirty="0" smtClean="0">
                <a:solidFill>
                  <a:srgbClr val="C586C0"/>
                </a:solidFill>
                <a:latin typeface="Source Code Pro" panose="020B0509030403020204" pitchFamily="49" charset="0"/>
              </a:rPr>
              <a:t>if</a:t>
            </a:r>
            <a:r>
              <a:rPr lang="en-US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dirty="0" err="1" smtClean="0">
                <a:solidFill>
                  <a:srgbClr val="DCDCAA"/>
                </a:solidFill>
                <a:latin typeface="Source Code Pro" panose="020B0509030403020204" pitchFamily="49" charset="0"/>
              </a:rPr>
              <a:t>scanf</a:t>
            </a:r>
            <a:r>
              <a:rPr lang="en-US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Source Code Pro" panose="020B0509030403020204" pitchFamily="49" charset="0"/>
              </a:rPr>
              <a:t>temp</a:t>
            </a:r>
            <a:r>
              <a:rPr lang="en-US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) </a:t>
            </a:r>
            <a:r>
              <a:rPr lang="en-US" dirty="0">
                <a:solidFill>
                  <a:srgbClr val="D4D4D4"/>
                </a:solidFill>
                <a:latin typeface="Source Code Pro" panose="020B0509030403020204" pitchFamily="49" charset="0"/>
              </a:rPr>
              <a:t>== </a:t>
            </a:r>
            <a:r>
              <a:rPr lang="en-US" dirty="0">
                <a:solidFill>
                  <a:srgbClr val="569CD6"/>
                </a:solidFill>
                <a:latin typeface="Source Code Pro" panose="020B0509030403020204" pitchFamily="49" charset="0"/>
              </a:rPr>
              <a:t>EOF</a:t>
            </a:r>
            <a:r>
              <a:rPr lang="en-US" dirty="0">
                <a:solidFill>
                  <a:srgbClr val="D4D4D4"/>
                </a:solidFill>
                <a:latin typeface="Source Code Pro" panose="020B0509030403020204" pitchFamily="49" charset="0"/>
              </a:rPr>
              <a:t>) </a:t>
            </a:r>
            <a:r>
              <a:rPr lang="en-US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	</a:t>
            </a:r>
            <a:r>
              <a:rPr lang="en-US" dirty="0" smtClean="0">
                <a:solidFill>
                  <a:srgbClr val="C586C0"/>
                </a:solidFill>
                <a:latin typeface="Source Code Pro" panose="020B0509030403020204" pitchFamily="49" charset="0"/>
              </a:rPr>
              <a:t>break</a:t>
            </a:r>
            <a:r>
              <a:rPr lang="en-US" dirty="0">
                <a:solidFill>
                  <a:srgbClr val="D4D4D4"/>
                </a:solidFill>
                <a:latin typeface="Source Code Pro" panose="020B0509030403020204" pitchFamily="49" charset="0"/>
              </a:rPr>
              <a:t>;</a:t>
            </a:r>
          </a:p>
          <a:p>
            <a:r>
              <a:rPr lang="en-US" dirty="0">
                <a:solidFill>
                  <a:srgbClr val="D4D4D4"/>
                </a:solidFill>
                <a:latin typeface="Source Code Pro" panose="020B0509030403020204" pitchFamily="49" charset="0"/>
              </a:rPr>
              <a:t>        </a:t>
            </a:r>
            <a:r>
              <a:rPr lang="en-US" dirty="0">
                <a:solidFill>
                  <a:srgbClr val="C586C0"/>
                </a:solidFill>
                <a:latin typeface="Source Code Pro" panose="020B0509030403020204" pitchFamily="49" charset="0"/>
              </a:rPr>
              <a:t>if</a:t>
            </a:r>
            <a:r>
              <a:rPr lang="en-US" dirty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Source Code Pro" panose="020B0509030403020204" pitchFamily="49" charset="0"/>
              </a:rPr>
              <a:t>temp</a:t>
            </a:r>
            <a:r>
              <a:rPr lang="en-US" dirty="0">
                <a:solidFill>
                  <a:srgbClr val="D4D4D4"/>
                </a:solidFill>
                <a:latin typeface="Source Code Pro" panose="020B0509030403020204" pitchFamily="49" charset="0"/>
              </a:rPr>
              <a:t> &lt; </a:t>
            </a:r>
            <a:r>
              <a:rPr lang="en-US" dirty="0">
                <a:solidFill>
                  <a:srgbClr val="B5CEA8"/>
                </a:solidFill>
                <a:latin typeface="Source Code Pro" panose="020B0509030403020204" pitchFamily="49" charset="0"/>
              </a:rPr>
              <a:t>0</a:t>
            </a:r>
            <a:r>
              <a:rPr lang="en-US" dirty="0">
                <a:solidFill>
                  <a:srgbClr val="D4D4D4"/>
                </a:solidFill>
                <a:latin typeface="Source Code Pro" panose="020B0509030403020204" pitchFamily="49" charset="0"/>
              </a:rPr>
              <a:t> || </a:t>
            </a:r>
            <a:r>
              <a:rPr lang="en-US" dirty="0">
                <a:solidFill>
                  <a:srgbClr val="9CDCFE"/>
                </a:solidFill>
                <a:latin typeface="Source Code Pro" panose="020B0509030403020204" pitchFamily="49" charset="0"/>
              </a:rPr>
              <a:t>temp</a:t>
            </a:r>
            <a:r>
              <a:rPr lang="en-US" dirty="0">
                <a:solidFill>
                  <a:srgbClr val="D4D4D4"/>
                </a:solidFill>
                <a:latin typeface="Source Code Pro" panose="020B0509030403020204" pitchFamily="49" charset="0"/>
              </a:rPr>
              <a:t> &gt; </a:t>
            </a:r>
            <a:r>
              <a:rPr lang="en-US" dirty="0">
                <a:solidFill>
                  <a:srgbClr val="9CDCFE"/>
                </a:solidFill>
                <a:latin typeface="Source Code Pro" panose="020B0509030403020204" pitchFamily="49" charset="0"/>
              </a:rPr>
              <a:t>cap</a:t>
            </a:r>
            <a:r>
              <a:rPr lang="en-US" dirty="0">
                <a:solidFill>
                  <a:srgbClr val="D4D4D4"/>
                </a:solidFill>
                <a:latin typeface="Source Code Pro" panose="020B0509030403020204" pitchFamily="49" charset="0"/>
              </a:rPr>
              <a:t>)</a:t>
            </a:r>
          </a:p>
          <a:p>
            <a:r>
              <a:rPr lang="en-US" dirty="0">
                <a:solidFill>
                  <a:srgbClr val="D4D4D4"/>
                </a:solidFill>
                <a:latin typeface="Source Code Pro" panose="020B0509030403020204" pitchFamily="49" charset="0"/>
              </a:rPr>
              <a:t>        </a:t>
            </a:r>
            <a:r>
              <a:rPr lang="en-US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{</a:t>
            </a:r>
            <a:endParaRPr lang="en-US" dirty="0">
              <a:solidFill>
                <a:srgbClr val="D4D4D4"/>
              </a:solidFill>
              <a:latin typeface="Source Code Pro" panose="020B0509030403020204" pitchFamily="49" charset="0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            </a:t>
            </a:r>
            <a:r>
              <a:rPr lang="en-US" dirty="0" err="1" smtClean="0">
                <a:solidFill>
                  <a:srgbClr val="DCDCAA"/>
                </a:solidFill>
                <a:latin typeface="Source Code Pro" panose="020B0509030403020204" pitchFamily="49" charset="0"/>
              </a:rPr>
              <a:t>printf</a:t>
            </a:r>
            <a:r>
              <a:rPr lang="en-US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Source Code Pro" panose="020B0509030403020204" pitchFamily="49" charset="0"/>
              </a:rPr>
              <a:t>“Error!"</a:t>
            </a:r>
            <a:r>
              <a:rPr lang="en-US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);</a:t>
            </a:r>
          </a:p>
          <a:p>
            <a:r>
              <a:rPr lang="en-US" dirty="0">
                <a:solidFill>
                  <a:srgbClr val="D4D4D4"/>
                </a:solidFill>
                <a:latin typeface="Source Code Pro" panose="020B0509030403020204" pitchFamily="49" charset="0"/>
              </a:rPr>
              <a:t>            </a:t>
            </a:r>
            <a:r>
              <a:rPr lang="en-US" dirty="0">
                <a:solidFill>
                  <a:srgbClr val="C586C0"/>
                </a:solidFill>
                <a:latin typeface="Source Code Pro" panose="020B0509030403020204" pitchFamily="49" charset="0"/>
              </a:rPr>
              <a:t>continue</a:t>
            </a:r>
            <a:r>
              <a:rPr lang="en-US" dirty="0">
                <a:solidFill>
                  <a:srgbClr val="D4D4D4"/>
                </a:solidFill>
                <a:latin typeface="Source Code Pro" panose="020B0509030403020204" pitchFamily="49" charset="0"/>
              </a:rPr>
              <a:t>;</a:t>
            </a:r>
          </a:p>
          <a:p>
            <a:r>
              <a:rPr lang="en-US" dirty="0">
                <a:solidFill>
                  <a:srgbClr val="D4D4D4"/>
                </a:solidFill>
                <a:latin typeface="Source Code Pro" panose="020B0509030403020204" pitchFamily="49" charset="0"/>
              </a:rPr>
              <a:t>        }</a:t>
            </a:r>
          </a:p>
          <a:p>
            <a:r>
              <a:rPr lang="en-US" dirty="0">
                <a:solidFill>
                  <a:srgbClr val="D4D4D4"/>
                </a:solidFill>
                <a:latin typeface="Source Code Pro" panose="020B0509030403020204" pitchFamily="49" charset="0"/>
              </a:rPr>
              <a:t>        </a:t>
            </a:r>
            <a:r>
              <a:rPr lang="en-US" dirty="0">
                <a:solidFill>
                  <a:srgbClr val="C586C0"/>
                </a:solidFill>
                <a:latin typeface="Source Code Pro" panose="020B0509030403020204" pitchFamily="49" charset="0"/>
              </a:rPr>
              <a:t>else</a:t>
            </a:r>
            <a:r>
              <a:rPr lang="en-US" dirty="0">
                <a:solidFill>
                  <a:srgbClr val="D4D4D4"/>
                </a:solidFill>
                <a:latin typeface="Source Code Pro" panose="020B0509030403020204" pitchFamily="49" charset="0"/>
              </a:rPr>
              <a:t>    </a:t>
            </a:r>
            <a:r>
              <a:rPr lang="en-US" dirty="0">
                <a:solidFill>
                  <a:srgbClr val="6A9955"/>
                </a:solidFill>
                <a:latin typeface="Source Code Pro" panose="020B0509030403020204" pitchFamily="49" charset="0"/>
              </a:rPr>
              <a:t>// create passenger</a:t>
            </a:r>
            <a:endParaRPr lang="en-US" dirty="0">
              <a:solidFill>
                <a:srgbClr val="D4D4D4"/>
              </a:solidFill>
              <a:latin typeface="Source Code Pro" panose="020B050903040302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Source Code Pro" panose="020B0509030403020204" pitchFamily="49" charset="0"/>
              </a:rPr>
              <a:t>            </a:t>
            </a:r>
            <a:r>
              <a:rPr lang="en-US" dirty="0" smtClean="0">
                <a:solidFill>
                  <a:srgbClr val="C586C0"/>
                </a:solidFill>
                <a:latin typeface="Source Code Pro" panose="020B0509030403020204" pitchFamily="49" charset="0"/>
              </a:rPr>
              <a:t>for</a:t>
            </a:r>
            <a:r>
              <a:rPr lang="en-US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Source Code Pro" panose="020B0509030403020204" pitchFamily="49" charset="0"/>
              </a:rPr>
              <a:t>i</a:t>
            </a:r>
            <a:r>
              <a:rPr lang="en-US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Source Code Pro" panose="020B0509030403020204" pitchFamily="49" charset="0"/>
              </a:rPr>
              <a:t>= </a:t>
            </a:r>
            <a:r>
              <a:rPr lang="en-US" dirty="0">
                <a:solidFill>
                  <a:srgbClr val="B5CEA8"/>
                </a:solidFill>
                <a:latin typeface="Source Code Pro" panose="020B0509030403020204" pitchFamily="49" charset="0"/>
              </a:rPr>
              <a:t>0</a:t>
            </a:r>
            <a:r>
              <a:rPr lang="en-US" dirty="0">
                <a:solidFill>
                  <a:srgbClr val="D4D4D4"/>
                </a:solidFill>
                <a:latin typeface="Source Code Pro" panose="020B0509030403020204" pitchFamily="49" charset="0"/>
              </a:rPr>
              <a:t>; </a:t>
            </a:r>
            <a:r>
              <a:rPr lang="en-US" dirty="0" err="1">
                <a:solidFill>
                  <a:srgbClr val="9CDCFE"/>
                </a:solidFill>
                <a:latin typeface="Source Code Pro" panose="020B0509030403020204" pitchFamily="49" charset="0"/>
              </a:rPr>
              <a:t>i</a:t>
            </a:r>
            <a:r>
              <a:rPr lang="en-US" dirty="0">
                <a:solidFill>
                  <a:srgbClr val="D4D4D4"/>
                </a:solidFill>
                <a:latin typeface="Source Code Pro" panose="020B0509030403020204" pitchFamily="49" charset="0"/>
              </a:rPr>
              <a:t> &lt; </a:t>
            </a:r>
            <a:r>
              <a:rPr lang="en-US" dirty="0">
                <a:solidFill>
                  <a:srgbClr val="9CDCFE"/>
                </a:solidFill>
                <a:latin typeface="Source Code Pro" panose="020B0509030403020204" pitchFamily="49" charset="0"/>
              </a:rPr>
              <a:t>temp</a:t>
            </a:r>
            <a:r>
              <a:rPr lang="en-US" dirty="0">
                <a:solidFill>
                  <a:srgbClr val="D4D4D4"/>
                </a:solidFill>
                <a:latin typeface="Source Code Pro" panose="020B0509030403020204" pitchFamily="49" charset="0"/>
              </a:rPr>
              <a:t>; ++</a:t>
            </a:r>
            <a:r>
              <a:rPr lang="en-US" dirty="0" err="1">
                <a:solidFill>
                  <a:srgbClr val="9CDCFE"/>
                </a:solidFill>
                <a:latin typeface="Source Code Pro" panose="020B0509030403020204" pitchFamily="49" charset="0"/>
              </a:rPr>
              <a:t>i</a:t>
            </a:r>
            <a:r>
              <a:rPr lang="en-US" dirty="0">
                <a:solidFill>
                  <a:srgbClr val="D4D4D4"/>
                </a:solidFill>
                <a:latin typeface="Source Code Pro" panose="020B0509030403020204" pitchFamily="49" charset="0"/>
              </a:rPr>
              <a:t>)</a:t>
            </a:r>
          </a:p>
          <a:p>
            <a:r>
              <a:rPr lang="en-US" dirty="0">
                <a:solidFill>
                  <a:srgbClr val="D4D4D4"/>
                </a:solidFill>
                <a:latin typeface="Source Code Pro" panose="020B0509030403020204" pitchFamily="49" charset="0"/>
              </a:rPr>
              <a:t>                </a:t>
            </a:r>
            <a:r>
              <a:rPr lang="en-US" dirty="0" err="1" smtClean="0">
                <a:solidFill>
                  <a:srgbClr val="DCDCAA"/>
                </a:solidFill>
                <a:latin typeface="Source Code Pro" panose="020B0509030403020204" pitchFamily="49" charset="0"/>
              </a:rPr>
              <a:t>pthread_create</a:t>
            </a:r>
            <a:r>
              <a:rPr lang="en-US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dirty="0" smtClean="0">
                <a:solidFill>
                  <a:srgbClr val="DCDCAA"/>
                </a:solidFill>
                <a:latin typeface="Source Code Pro" panose="020B0509030403020204" pitchFamily="49" charset="0"/>
              </a:rPr>
              <a:t>passenger</a:t>
            </a:r>
            <a:r>
              <a:rPr lang="en-US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);</a:t>
            </a:r>
            <a:endParaRPr lang="en-US" dirty="0">
              <a:solidFill>
                <a:srgbClr val="D4D4D4"/>
              </a:solidFill>
              <a:latin typeface="Source Code Pro" panose="020B0509030403020204" pitchFamily="49" charset="0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}</a:t>
            </a:r>
            <a:endParaRPr lang="en-US" b="0" dirty="0">
              <a:solidFill>
                <a:srgbClr val="D4D4D4"/>
              </a:solidFill>
              <a:effectLst/>
              <a:latin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0841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l-GR" dirty="0" smtClean="0"/>
              <a:t>Λειτουργία </a:t>
            </a:r>
            <a:r>
              <a:rPr lang="el-GR" dirty="0" smtClean="0"/>
              <a:t>των </a:t>
            </a:r>
            <a:r>
              <a:rPr lang="en-US" dirty="0" smtClean="0"/>
              <a:t>passenger </a:t>
            </a:r>
            <a:r>
              <a:rPr lang="en-US" dirty="0" smtClean="0"/>
              <a:t>threads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7" name="Υπότιτλος 6"/>
          <p:cNvSpPr>
            <a:spLocks noGrp="1"/>
          </p:cNvSpPr>
          <p:nvPr>
            <p:ph type="subTitle" idx="1"/>
          </p:nvPr>
        </p:nvSpPr>
        <p:spPr>
          <a:xfrm>
            <a:off x="1523997" y="1056729"/>
            <a:ext cx="9144000" cy="569553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l-GR" sz="2000" dirty="0" smtClean="0"/>
              <a:t>Οι επιβάτες μπαίνουν στο τρενάκι ένας </a:t>
            </a:r>
            <a:r>
              <a:rPr lang="el-GR" sz="2000" dirty="0" err="1" smtClean="0"/>
              <a:t>ένας</a:t>
            </a:r>
            <a:r>
              <a:rPr lang="el-GR" sz="2000" dirty="0" smtClean="0"/>
              <a:t> και ο τελευταίος (εκείνος που θα ανιχνεύσει ότ</a:t>
            </a:r>
            <a:r>
              <a:rPr lang="el-GR" sz="2000" dirty="0" smtClean="0"/>
              <a:t>ι τ</a:t>
            </a:r>
            <a:r>
              <a:rPr lang="el-GR" sz="2000" dirty="0" smtClean="0"/>
              <a:t>ο τρενάκι έχει γεμίσει, ξυπνάει το</a:t>
            </a:r>
            <a:r>
              <a:rPr lang="en-US" sz="2000" dirty="0" smtClean="0"/>
              <a:t> train thread </a:t>
            </a:r>
            <a:r>
              <a:rPr lang="el-GR" sz="2000" dirty="0" smtClean="0"/>
              <a:t>για να ξεκι</a:t>
            </a:r>
            <a:r>
              <a:rPr lang="el-GR" sz="2000" dirty="0" smtClean="0"/>
              <a:t>νήσει το τρέχον </a:t>
            </a:r>
            <a:r>
              <a:rPr lang="en-US" sz="2000" dirty="0" smtClean="0"/>
              <a:t>ride.</a:t>
            </a:r>
            <a:endParaRPr lang="el-GR" sz="20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672051" y="1913824"/>
            <a:ext cx="10847891" cy="4154984"/>
          </a:xfrm>
          <a:prstGeom prst="rect">
            <a:avLst/>
          </a:prstGeom>
          <a:solidFill>
            <a:srgbClr val="333333"/>
          </a:solidFill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DCDCAA"/>
                </a:solidFill>
                <a:latin typeface="Source Code Pro" panose="020B0509030403020204" pitchFamily="49" charset="0"/>
              </a:rPr>
              <a:t>down</a:t>
            </a:r>
            <a:r>
              <a:rPr lang="en-US" sz="12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sz="1200" dirty="0" err="1" smtClean="0">
                <a:solidFill>
                  <a:srgbClr val="9CDCFE"/>
                </a:solidFill>
                <a:latin typeface="Source Code Pro" panose="020B0509030403020204" pitchFamily="49" charset="0"/>
              </a:rPr>
              <a:t>mutex</a:t>
            </a:r>
            <a:r>
              <a:rPr lang="en-US" sz="12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);</a:t>
            </a:r>
            <a:endParaRPr lang="en-US" sz="1200" dirty="0">
              <a:solidFill>
                <a:srgbClr val="D4D4D4"/>
              </a:solidFill>
              <a:latin typeface="Source Code Pro" panose="020B0509030403020204" pitchFamily="49" charset="0"/>
            </a:endParaRPr>
          </a:p>
          <a:p>
            <a:r>
              <a:rPr lang="en-US" sz="1200" dirty="0" smtClean="0">
                <a:solidFill>
                  <a:srgbClr val="9CDCFE"/>
                </a:solidFill>
                <a:latin typeface="Source Code Pro" panose="020B0509030403020204" pitchFamily="49" charset="0"/>
              </a:rPr>
              <a:t>queue</a:t>
            </a:r>
            <a:r>
              <a:rPr lang="en-US" sz="12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++;</a:t>
            </a:r>
          </a:p>
          <a:p>
            <a:r>
              <a:rPr lang="en-US" sz="1200" dirty="0" smtClean="0">
                <a:solidFill>
                  <a:srgbClr val="DCDCAA"/>
                </a:solidFill>
                <a:latin typeface="Source Code Pro" panose="020B0509030403020204" pitchFamily="49" charset="0"/>
              </a:rPr>
              <a:t>up</a:t>
            </a:r>
            <a:r>
              <a:rPr lang="en-US" sz="12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sz="1200" dirty="0" err="1" smtClean="0">
                <a:solidFill>
                  <a:srgbClr val="9CDCFE"/>
                </a:solidFill>
                <a:latin typeface="Source Code Pro" panose="020B0509030403020204" pitchFamily="49" charset="0"/>
              </a:rPr>
              <a:t>mutex</a:t>
            </a:r>
            <a:r>
              <a:rPr lang="en-US" sz="12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);</a:t>
            </a:r>
            <a:endParaRPr lang="en-US" sz="1200" dirty="0">
              <a:solidFill>
                <a:srgbClr val="D4D4D4"/>
              </a:solidFill>
              <a:latin typeface="Source Code Pro" panose="020B0509030403020204" pitchFamily="49" charset="0"/>
            </a:endParaRPr>
          </a:p>
          <a:p>
            <a:r>
              <a:rPr lang="en-US" sz="1200" dirty="0" smtClean="0">
                <a:solidFill>
                  <a:srgbClr val="DCDCAA"/>
                </a:solidFill>
                <a:latin typeface="Source Code Pro" panose="020B0509030403020204" pitchFamily="49" charset="0"/>
              </a:rPr>
              <a:t>down</a:t>
            </a:r>
            <a:r>
              <a:rPr lang="en-US" sz="12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sz="1200" dirty="0" err="1" smtClean="0">
                <a:solidFill>
                  <a:srgbClr val="9CDCFE"/>
                </a:solidFill>
                <a:latin typeface="Source Code Pro" panose="020B0509030403020204" pitchFamily="49" charset="0"/>
              </a:rPr>
              <a:t>pass_board</a:t>
            </a:r>
            <a:r>
              <a:rPr lang="en-US" sz="12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); </a:t>
            </a:r>
            <a:r>
              <a:rPr lang="en-US" sz="1200" dirty="0">
                <a:solidFill>
                  <a:srgbClr val="D4D4D4"/>
                </a:solidFill>
                <a:latin typeface="Source Code Pro" panose="020B0509030403020204" pitchFamily="49" charset="0"/>
              </a:rPr>
              <a:t>  </a:t>
            </a:r>
            <a:r>
              <a:rPr lang="en-US" sz="1200" dirty="0">
                <a:solidFill>
                  <a:srgbClr val="6A9955"/>
                </a:solidFill>
                <a:latin typeface="Source Code Pro" panose="020B0509030403020204" pitchFamily="49" charset="0"/>
              </a:rPr>
              <a:t>// wait for boarding</a:t>
            </a:r>
            <a:endParaRPr lang="en-US" sz="1200" dirty="0">
              <a:solidFill>
                <a:srgbClr val="D4D4D4"/>
              </a:solidFill>
              <a:latin typeface="Source Code Pro" panose="020B0509030403020204" pitchFamily="49" charset="0"/>
            </a:endParaRPr>
          </a:p>
          <a:p>
            <a:r>
              <a:rPr lang="en-US" sz="1200" dirty="0" smtClean="0">
                <a:solidFill>
                  <a:srgbClr val="C586C0"/>
                </a:solidFill>
                <a:latin typeface="Source Code Pro" panose="020B0509030403020204" pitchFamily="49" charset="0"/>
              </a:rPr>
              <a:t>if</a:t>
            </a:r>
            <a:r>
              <a:rPr lang="en-US" sz="12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(!</a:t>
            </a:r>
            <a:r>
              <a:rPr lang="en-US" sz="1200" dirty="0" smtClean="0">
                <a:solidFill>
                  <a:srgbClr val="9CDCFE"/>
                </a:solidFill>
                <a:latin typeface="Source Code Pro" panose="020B0509030403020204" pitchFamily="49" charset="0"/>
              </a:rPr>
              <a:t>on</a:t>
            </a:r>
            <a:r>
              <a:rPr lang="en-US" sz="12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 </a:t>
            </a:r>
            <a:r>
              <a:rPr lang="en-US" sz="1200" dirty="0">
                <a:solidFill>
                  <a:srgbClr val="D4D4D4"/>
                </a:solidFill>
                <a:latin typeface="Source Code Pro" panose="020B0509030403020204" pitchFamily="49" charset="0"/>
              </a:rPr>
              <a:t>&amp;&amp; </a:t>
            </a:r>
            <a:r>
              <a:rPr lang="en-US" sz="1200" dirty="0" smtClean="0">
                <a:solidFill>
                  <a:srgbClr val="9CDCFE"/>
                </a:solidFill>
                <a:latin typeface="Source Code Pro" panose="020B0509030403020204" pitchFamily="49" charset="0"/>
              </a:rPr>
              <a:t>queue</a:t>
            </a:r>
            <a:r>
              <a:rPr lang="en-US" sz="12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 &lt; </a:t>
            </a:r>
            <a:r>
              <a:rPr lang="en-US" sz="1200" dirty="0" smtClean="0">
                <a:solidFill>
                  <a:srgbClr val="9CDCFE"/>
                </a:solidFill>
                <a:latin typeface="Source Code Pro" panose="020B0509030403020204" pitchFamily="49" charset="0"/>
              </a:rPr>
              <a:t>capacity</a:t>
            </a:r>
            <a:r>
              <a:rPr lang="en-US" sz="12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 </a:t>
            </a:r>
            <a:r>
              <a:rPr lang="en-US" sz="1200" dirty="0">
                <a:solidFill>
                  <a:srgbClr val="D4D4D4"/>
                </a:solidFill>
                <a:latin typeface="Source Code Pro" panose="020B0509030403020204" pitchFamily="49" charset="0"/>
              </a:rPr>
              <a:t>- </a:t>
            </a:r>
            <a:r>
              <a:rPr lang="en-US" sz="1200" dirty="0" err="1" smtClean="0">
                <a:solidFill>
                  <a:srgbClr val="9CDCFE"/>
                </a:solidFill>
                <a:latin typeface="Source Code Pro" panose="020B0509030403020204" pitchFamily="49" charset="0"/>
              </a:rPr>
              <a:t>num</a:t>
            </a:r>
            <a:r>
              <a:rPr lang="en-US" sz="1200" dirty="0">
                <a:solidFill>
                  <a:srgbClr val="D4D4D4"/>
                </a:solidFill>
                <a:latin typeface="Source Code Pro" panose="020B0509030403020204" pitchFamily="49" charset="0"/>
              </a:rPr>
              <a:t>)</a:t>
            </a:r>
          </a:p>
          <a:p>
            <a:r>
              <a:rPr lang="en-US" sz="12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{</a:t>
            </a:r>
            <a:endParaRPr lang="en-US" sz="1200" dirty="0">
              <a:solidFill>
                <a:srgbClr val="D4D4D4"/>
              </a:solidFill>
              <a:latin typeface="Source Code Pro" panose="020B0509030403020204" pitchFamily="49" charset="0"/>
            </a:endParaRPr>
          </a:p>
          <a:p>
            <a:r>
              <a:rPr lang="en-US" sz="1200" dirty="0">
                <a:solidFill>
                  <a:srgbClr val="D4D4D4"/>
                </a:solidFill>
                <a:latin typeface="Source Code Pro" panose="020B0509030403020204" pitchFamily="49" charset="0"/>
              </a:rPr>
              <a:t>        </a:t>
            </a:r>
            <a:r>
              <a:rPr lang="en-US" sz="1200" dirty="0" smtClean="0">
                <a:solidFill>
                  <a:srgbClr val="DCDCAA"/>
                </a:solidFill>
                <a:latin typeface="Source Code Pro" panose="020B0509030403020204" pitchFamily="49" charset="0"/>
              </a:rPr>
              <a:t>down</a:t>
            </a:r>
            <a:r>
              <a:rPr lang="en-US" sz="12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sz="1200" dirty="0" err="1">
                <a:solidFill>
                  <a:srgbClr val="9CDCFE"/>
                </a:solidFill>
                <a:latin typeface="Source Code Pro" panose="020B0509030403020204" pitchFamily="49" charset="0"/>
              </a:rPr>
              <a:t>m</a:t>
            </a:r>
            <a:r>
              <a:rPr lang="en-US" sz="1200" dirty="0" err="1" smtClean="0">
                <a:solidFill>
                  <a:srgbClr val="9CDCFE"/>
                </a:solidFill>
                <a:latin typeface="Source Code Pro" panose="020B0509030403020204" pitchFamily="49" charset="0"/>
              </a:rPr>
              <a:t>utex</a:t>
            </a:r>
            <a:r>
              <a:rPr lang="en-US" sz="1200" dirty="0">
                <a:solidFill>
                  <a:srgbClr val="D4D4D4"/>
                </a:solidFill>
                <a:latin typeface="Source Code Pro" panose="020B0509030403020204" pitchFamily="49" charset="0"/>
              </a:rPr>
              <a:t>);</a:t>
            </a:r>
          </a:p>
          <a:p>
            <a:r>
              <a:rPr lang="en-US" sz="1200" dirty="0">
                <a:solidFill>
                  <a:srgbClr val="D4D4D4"/>
                </a:solidFill>
                <a:latin typeface="Source Code Pro" panose="020B0509030403020204" pitchFamily="49" charset="0"/>
              </a:rPr>
              <a:t>        </a:t>
            </a:r>
            <a:r>
              <a:rPr lang="en-US" sz="1200" dirty="0" smtClean="0">
                <a:solidFill>
                  <a:srgbClr val="9CDCFE"/>
                </a:solidFill>
                <a:latin typeface="Source Code Pro" panose="020B0509030403020204" pitchFamily="49" charset="0"/>
              </a:rPr>
              <a:t>queue</a:t>
            </a:r>
            <a:r>
              <a:rPr lang="en-US" sz="12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--;</a:t>
            </a:r>
            <a:endParaRPr lang="en-US" sz="1200" dirty="0">
              <a:solidFill>
                <a:srgbClr val="D4D4D4"/>
              </a:solidFill>
              <a:latin typeface="Source Code Pro" panose="020B0509030403020204" pitchFamily="49" charset="0"/>
            </a:endParaRPr>
          </a:p>
          <a:p>
            <a:r>
              <a:rPr lang="en-US" sz="1200" dirty="0">
                <a:solidFill>
                  <a:srgbClr val="D4D4D4"/>
                </a:solidFill>
                <a:latin typeface="Source Code Pro" panose="020B0509030403020204" pitchFamily="49" charset="0"/>
              </a:rPr>
              <a:t>        </a:t>
            </a:r>
            <a:r>
              <a:rPr lang="en-US" sz="1200" dirty="0" smtClean="0">
                <a:solidFill>
                  <a:srgbClr val="DCDCAA"/>
                </a:solidFill>
                <a:latin typeface="Source Code Pro" panose="020B0509030403020204" pitchFamily="49" charset="0"/>
              </a:rPr>
              <a:t>up</a:t>
            </a:r>
            <a:r>
              <a:rPr lang="en-US" sz="12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sz="1200" dirty="0" err="1">
                <a:solidFill>
                  <a:srgbClr val="9CDCFE"/>
                </a:solidFill>
                <a:latin typeface="Source Code Pro" panose="020B0509030403020204" pitchFamily="49" charset="0"/>
              </a:rPr>
              <a:t>m</a:t>
            </a:r>
            <a:r>
              <a:rPr lang="en-US" sz="1200" dirty="0" err="1" smtClean="0">
                <a:solidFill>
                  <a:srgbClr val="9CDCFE"/>
                </a:solidFill>
                <a:latin typeface="Source Code Pro" panose="020B0509030403020204" pitchFamily="49" charset="0"/>
              </a:rPr>
              <a:t>utex</a:t>
            </a:r>
            <a:r>
              <a:rPr lang="en-US" sz="1200" dirty="0">
                <a:solidFill>
                  <a:srgbClr val="D4D4D4"/>
                </a:solidFill>
                <a:latin typeface="Source Code Pro" panose="020B0509030403020204" pitchFamily="49" charset="0"/>
              </a:rPr>
              <a:t>);</a:t>
            </a:r>
          </a:p>
          <a:p>
            <a:r>
              <a:rPr lang="en-US" sz="1200" dirty="0">
                <a:solidFill>
                  <a:srgbClr val="D4D4D4"/>
                </a:solidFill>
                <a:latin typeface="Source Code Pro" panose="020B0509030403020204" pitchFamily="49" charset="0"/>
              </a:rPr>
              <a:t>        </a:t>
            </a:r>
            <a:r>
              <a:rPr lang="en-US" sz="1200" dirty="0" smtClean="0">
                <a:solidFill>
                  <a:srgbClr val="DCDCAA"/>
                </a:solidFill>
                <a:latin typeface="Source Code Pro" panose="020B0509030403020204" pitchFamily="49" charset="0"/>
              </a:rPr>
              <a:t>up</a:t>
            </a:r>
            <a:r>
              <a:rPr lang="en-US" sz="12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sz="1200" dirty="0" err="1" smtClean="0">
                <a:solidFill>
                  <a:srgbClr val="9CDCFE"/>
                </a:solidFill>
                <a:latin typeface="Source Code Pro" panose="020B0509030403020204" pitchFamily="49" charset="0"/>
              </a:rPr>
              <a:t>pass_board</a:t>
            </a:r>
            <a:r>
              <a:rPr lang="en-US" sz="1200" dirty="0">
                <a:solidFill>
                  <a:srgbClr val="D4D4D4"/>
                </a:solidFill>
                <a:latin typeface="Source Code Pro" panose="020B0509030403020204" pitchFamily="49" charset="0"/>
              </a:rPr>
              <a:t>);</a:t>
            </a:r>
          </a:p>
          <a:p>
            <a:r>
              <a:rPr lang="en-US" sz="1200" dirty="0">
                <a:solidFill>
                  <a:srgbClr val="D4D4D4"/>
                </a:solidFill>
                <a:latin typeface="Source Code Pro" panose="020B0509030403020204" pitchFamily="49" charset="0"/>
              </a:rPr>
              <a:t>        </a:t>
            </a:r>
            <a:r>
              <a:rPr lang="en-US" sz="1200" dirty="0">
                <a:solidFill>
                  <a:srgbClr val="C586C0"/>
                </a:solidFill>
                <a:latin typeface="Source Code Pro" panose="020B0509030403020204" pitchFamily="49" charset="0"/>
              </a:rPr>
              <a:t>return</a:t>
            </a:r>
            <a:r>
              <a:rPr lang="en-US" sz="1200" dirty="0">
                <a:solidFill>
                  <a:srgbClr val="D4D4D4"/>
                </a:solidFill>
                <a:latin typeface="Source Code Pro" panose="020B0509030403020204" pitchFamily="49" charset="0"/>
              </a:rPr>
              <a:t> </a:t>
            </a:r>
            <a:r>
              <a:rPr lang="en-US" sz="1200" dirty="0">
                <a:solidFill>
                  <a:srgbClr val="569CD6"/>
                </a:solidFill>
                <a:latin typeface="Source Code Pro" panose="020B0509030403020204" pitchFamily="49" charset="0"/>
              </a:rPr>
              <a:t>NULL</a:t>
            </a:r>
            <a:r>
              <a:rPr lang="en-US" sz="1200" dirty="0">
                <a:solidFill>
                  <a:srgbClr val="D4D4D4"/>
                </a:solidFill>
                <a:latin typeface="Source Code Pro" panose="020B0509030403020204" pitchFamily="49" charset="0"/>
              </a:rPr>
              <a:t>;</a:t>
            </a:r>
          </a:p>
          <a:p>
            <a:r>
              <a:rPr lang="en-US" sz="12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}</a:t>
            </a:r>
            <a:endParaRPr lang="en-US" sz="1200" dirty="0">
              <a:solidFill>
                <a:srgbClr val="D4D4D4"/>
              </a:solidFill>
              <a:latin typeface="Source Code Pro" panose="020B0509030403020204" pitchFamily="49" charset="0"/>
            </a:endParaRPr>
          </a:p>
          <a:p>
            <a:r>
              <a:rPr lang="en-US" sz="1200" dirty="0">
                <a:solidFill>
                  <a:srgbClr val="D4D4D4"/>
                </a:solidFill>
                <a:latin typeface="Source Code Pro" panose="020B0509030403020204" pitchFamily="49" charset="0"/>
              </a:rPr>
              <a:t>    </a:t>
            </a:r>
          </a:p>
          <a:p>
            <a:r>
              <a:rPr lang="en-US" sz="1200" dirty="0" smtClean="0">
                <a:solidFill>
                  <a:srgbClr val="DCDCAA"/>
                </a:solidFill>
                <a:latin typeface="Source Code Pro" panose="020B0509030403020204" pitchFamily="49" charset="0"/>
              </a:rPr>
              <a:t>down</a:t>
            </a:r>
            <a:r>
              <a:rPr lang="en-US" sz="12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sz="1200" dirty="0" err="1">
                <a:solidFill>
                  <a:srgbClr val="9CDCFE"/>
                </a:solidFill>
                <a:latin typeface="Source Code Pro" panose="020B0509030403020204" pitchFamily="49" charset="0"/>
              </a:rPr>
              <a:t>m</a:t>
            </a:r>
            <a:r>
              <a:rPr lang="en-US" sz="1200" dirty="0" err="1" smtClean="0">
                <a:solidFill>
                  <a:srgbClr val="9CDCFE"/>
                </a:solidFill>
                <a:latin typeface="Source Code Pro" panose="020B0509030403020204" pitchFamily="49" charset="0"/>
              </a:rPr>
              <a:t>utex</a:t>
            </a:r>
            <a:r>
              <a:rPr lang="en-US" sz="1200" dirty="0">
                <a:solidFill>
                  <a:srgbClr val="D4D4D4"/>
                </a:solidFill>
                <a:latin typeface="Source Code Pro" panose="020B0509030403020204" pitchFamily="49" charset="0"/>
              </a:rPr>
              <a:t>);</a:t>
            </a:r>
          </a:p>
          <a:p>
            <a:r>
              <a:rPr lang="en-US" sz="1200" dirty="0" err="1" smtClean="0">
                <a:solidFill>
                  <a:srgbClr val="9CDCFE"/>
                </a:solidFill>
                <a:latin typeface="Source Code Pro" panose="020B0509030403020204" pitchFamily="49" charset="0"/>
              </a:rPr>
              <a:t>num</a:t>
            </a:r>
            <a:r>
              <a:rPr lang="en-US" sz="12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++;</a:t>
            </a:r>
            <a:endParaRPr lang="en-US" sz="1200" dirty="0">
              <a:solidFill>
                <a:srgbClr val="D4D4D4"/>
              </a:solidFill>
              <a:latin typeface="Source Code Pro" panose="020B0509030403020204" pitchFamily="49" charset="0"/>
            </a:endParaRPr>
          </a:p>
          <a:p>
            <a:r>
              <a:rPr lang="en-US" sz="1200" dirty="0" smtClean="0">
                <a:solidFill>
                  <a:srgbClr val="9CDCFE"/>
                </a:solidFill>
                <a:latin typeface="Source Code Pro" panose="020B0509030403020204" pitchFamily="49" charset="0"/>
              </a:rPr>
              <a:t>queue</a:t>
            </a:r>
            <a:r>
              <a:rPr lang="en-US" sz="12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-</a:t>
            </a:r>
            <a:r>
              <a:rPr lang="en-US" sz="1200" dirty="0">
                <a:solidFill>
                  <a:srgbClr val="D4D4D4"/>
                </a:solidFill>
                <a:latin typeface="Source Code Pro" panose="020B0509030403020204" pitchFamily="49" charset="0"/>
              </a:rPr>
              <a:t>-;</a:t>
            </a:r>
          </a:p>
          <a:p>
            <a:r>
              <a:rPr lang="en-US" sz="1200" dirty="0" smtClean="0">
                <a:solidFill>
                  <a:srgbClr val="DCDCAA"/>
                </a:solidFill>
                <a:latin typeface="Source Code Pro" panose="020B0509030403020204" pitchFamily="49" charset="0"/>
              </a:rPr>
              <a:t>up</a:t>
            </a:r>
            <a:r>
              <a:rPr lang="en-US" sz="12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sz="1200" dirty="0" err="1">
                <a:solidFill>
                  <a:srgbClr val="9CDCFE"/>
                </a:solidFill>
                <a:latin typeface="Source Code Pro" panose="020B0509030403020204" pitchFamily="49" charset="0"/>
              </a:rPr>
              <a:t>m</a:t>
            </a:r>
            <a:r>
              <a:rPr lang="en-US" sz="1200" dirty="0" err="1" smtClean="0">
                <a:solidFill>
                  <a:srgbClr val="9CDCFE"/>
                </a:solidFill>
                <a:latin typeface="Source Code Pro" panose="020B0509030403020204" pitchFamily="49" charset="0"/>
              </a:rPr>
              <a:t>utex</a:t>
            </a:r>
            <a:r>
              <a:rPr lang="en-US" sz="1200" dirty="0">
                <a:solidFill>
                  <a:srgbClr val="D4D4D4"/>
                </a:solidFill>
                <a:latin typeface="Source Code Pro" panose="020B0509030403020204" pitchFamily="49" charset="0"/>
              </a:rPr>
              <a:t>);</a:t>
            </a:r>
          </a:p>
          <a:p>
            <a:r>
              <a:rPr lang="en-US" sz="1200" dirty="0">
                <a:solidFill>
                  <a:srgbClr val="D4D4D4"/>
                </a:solidFill>
                <a:latin typeface="Source Code Pro" panose="020B0509030403020204" pitchFamily="49" charset="0"/>
              </a:rPr>
              <a:t/>
            </a:r>
            <a:br>
              <a:rPr lang="en-US" sz="1200" dirty="0">
                <a:solidFill>
                  <a:srgbClr val="D4D4D4"/>
                </a:solidFill>
                <a:latin typeface="Source Code Pro" panose="020B0509030403020204" pitchFamily="49" charset="0"/>
              </a:rPr>
            </a:br>
            <a:r>
              <a:rPr lang="en-US" sz="1200" dirty="0" smtClean="0">
                <a:solidFill>
                  <a:srgbClr val="C586C0"/>
                </a:solidFill>
                <a:latin typeface="Source Code Pro" panose="020B0509030403020204" pitchFamily="49" charset="0"/>
              </a:rPr>
              <a:t>if</a:t>
            </a:r>
            <a:r>
              <a:rPr lang="en-US" sz="12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sz="1200" dirty="0" err="1" smtClean="0">
                <a:solidFill>
                  <a:srgbClr val="9CDCFE"/>
                </a:solidFill>
                <a:latin typeface="Source Code Pro" panose="020B0509030403020204" pitchFamily="49" charset="0"/>
              </a:rPr>
              <a:t>num</a:t>
            </a:r>
            <a:r>
              <a:rPr lang="en-US" sz="12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 </a:t>
            </a:r>
            <a:r>
              <a:rPr lang="en-US" sz="1200" dirty="0">
                <a:solidFill>
                  <a:srgbClr val="D4D4D4"/>
                </a:solidFill>
                <a:latin typeface="Source Code Pro" panose="020B0509030403020204" pitchFamily="49" charset="0"/>
              </a:rPr>
              <a:t>== </a:t>
            </a:r>
            <a:r>
              <a:rPr lang="en-US" sz="1200" dirty="0" smtClean="0">
                <a:solidFill>
                  <a:srgbClr val="9CDCFE"/>
                </a:solidFill>
                <a:latin typeface="Source Code Pro" panose="020B0509030403020204" pitchFamily="49" charset="0"/>
              </a:rPr>
              <a:t>capacity</a:t>
            </a:r>
            <a:r>
              <a:rPr lang="en-US" sz="12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)</a:t>
            </a:r>
          </a:p>
          <a:p>
            <a:r>
              <a:rPr lang="en-US" sz="12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	</a:t>
            </a:r>
            <a:r>
              <a:rPr lang="en-US" sz="1200" dirty="0" smtClean="0">
                <a:solidFill>
                  <a:srgbClr val="DCDCAA"/>
                </a:solidFill>
                <a:latin typeface="Source Code Pro" panose="020B0509030403020204" pitchFamily="49" charset="0"/>
              </a:rPr>
              <a:t>up</a:t>
            </a:r>
            <a:r>
              <a:rPr lang="en-US" sz="12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sz="1200" dirty="0" err="1" smtClean="0">
                <a:solidFill>
                  <a:srgbClr val="9CDCFE"/>
                </a:solidFill>
                <a:latin typeface="Source Code Pro" panose="020B0509030403020204" pitchFamily="49" charset="0"/>
              </a:rPr>
              <a:t>train_go</a:t>
            </a:r>
            <a:r>
              <a:rPr lang="en-US" sz="1200" dirty="0">
                <a:solidFill>
                  <a:srgbClr val="D4D4D4"/>
                </a:solidFill>
                <a:latin typeface="Source Code Pro" panose="020B0509030403020204" pitchFamily="49" charset="0"/>
              </a:rPr>
              <a:t>);      </a:t>
            </a:r>
            <a:r>
              <a:rPr lang="en-US" sz="12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	</a:t>
            </a:r>
            <a:r>
              <a:rPr lang="en-US" sz="1200" dirty="0" smtClean="0">
                <a:solidFill>
                  <a:srgbClr val="6A9955"/>
                </a:solidFill>
                <a:latin typeface="Source Code Pro" panose="020B0509030403020204" pitchFamily="49" charset="0"/>
              </a:rPr>
              <a:t>// </a:t>
            </a:r>
            <a:r>
              <a:rPr lang="en-US" sz="1200" dirty="0">
                <a:solidFill>
                  <a:srgbClr val="6A9955"/>
                </a:solidFill>
                <a:latin typeface="Source Code Pro" panose="020B0509030403020204" pitchFamily="49" charset="0"/>
              </a:rPr>
              <a:t>if train full, last passenger invokes train ride</a:t>
            </a:r>
            <a:endParaRPr lang="en-US" sz="1200" dirty="0">
              <a:solidFill>
                <a:srgbClr val="D4D4D4"/>
              </a:solidFill>
              <a:latin typeface="Source Code Pro" panose="020B0509030403020204" pitchFamily="49" charset="0"/>
            </a:endParaRPr>
          </a:p>
          <a:p>
            <a:r>
              <a:rPr lang="en-US" sz="1200" dirty="0" smtClean="0">
                <a:solidFill>
                  <a:srgbClr val="C586C0"/>
                </a:solidFill>
                <a:latin typeface="Source Code Pro" panose="020B0509030403020204" pitchFamily="49" charset="0"/>
              </a:rPr>
              <a:t>else</a:t>
            </a:r>
            <a:endParaRPr lang="en-US" sz="1200" dirty="0">
              <a:solidFill>
                <a:srgbClr val="D4D4D4"/>
              </a:solidFill>
              <a:latin typeface="Source Code Pro" panose="020B0509030403020204" pitchFamily="49" charset="0"/>
            </a:endParaRPr>
          </a:p>
          <a:p>
            <a:r>
              <a:rPr lang="en-US" sz="12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	</a:t>
            </a:r>
            <a:r>
              <a:rPr lang="en-US" sz="1200" dirty="0" smtClean="0">
                <a:solidFill>
                  <a:srgbClr val="DCDCAA"/>
                </a:solidFill>
                <a:latin typeface="Source Code Pro" panose="020B0509030403020204" pitchFamily="49" charset="0"/>
              </a:rPr>
              <a:t>up</a:t>
            </a:r>
            <a:r>
              <a:rPr lang="en-US" sz="12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sz="1200" dirty="0" err="1" smtClean="0">
                <a:solidFill>
                  <a:srgbClr val="9CDCFE"/>
                </a:solidFill>
                <a:latin typeface="Source Code Pro" panose="020B0509030403020204" pitchFamily="49" charset="0"/>
              </a:rPr>
              <a:t>pass_board</a:t>
            </a:r>
            <a:r>
              <a:rPr lang="en-US" sz="1200" dirty="0">
                <a:solidFill>
                  <a:srgbClr val="D4D4D4"/>
                </a:solidFill>
                <a:latin typeface="Source Code Pro" panose="020B0509030403020204" pitchFamily="49" charset="0"/>
              </a:rPr>
              <a:t>);    </a:t>
            </a:r>
            <a:r>
              <a:rPr lang="en-US" sz="12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	</a:t>
            </a:r>
            <a:r>
              <a:rPr lang="en-US" sz="1200" dirty="0" smtClean="0">
                <a:solidFill>
                  <a:srgbClr val="6A9955"/>
                </a:solidFill>
                <a:latin typeface="Source Code Pro" panose="020B0509030403020204" pitchFamily="49" charset="0"/>
              </a:rPr>
              <a:t>// </a:t>
            </a:r>
            <a:r>
              <a:rPr lang="en-US" sz="1200" dirty="0">
                <a:solidFill>
                  <a:srgbClr val="6A9955"/>
                </a:solidFill>
                <a:latin typeface="Source Code Pro" panose="020B0509030403020204" pitchFamily="49" charset="0"/>
              </a:rPr>
              <a:t>else allow next passenger to </a:t>
            </a:r>
            <a:r>
              <a:rPr lang="en-US" sz="1200" dirty="0" smtClean="0">
                <a:solidFill>
                  <a:srgbClr val="6A9955"/>
                </a:solidFill>
                <a:latin typeface="Source Code Pro" panose="020B0509030403020204" pitchFamily="49" charset="0"/>
              </a:rPr>
              <a:t>board</a:t>
            </a:r>
            <a:endParaRPr lang="en-US" sz="1200" dirty="0">
              <a:solidFill>
                <a:srgbClr val="D4D4D4"/>
              </a:solidFill>
              <a:latin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425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l-GR" dirty="0" smtClean="0"/>
              <a:t>Λειτουργία </a:t>
            </a:r>
            <a:r>
              <a:rPr lang="el-GR" dirty="0" smtClean="0"/>
              <a:t>του </a:t>
            </a:r>
            <a:r>
              <a:rPr lang="en-US" dirty="0" smtClean="0"/>
              <a:t>train thread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7" name="Υπότιτλος 6"/>
          <p:cNvSpPr>
            <a:spLocks noGrp="1"/>
          </p:cNvSpPr>
          <p:nvPr>
            <p:ph type="subTitle" idx="1"/>
          </p:nvPr>
        </p:nvSpPr>
        <p:spPr>
          <a:xfrm>
            <a:off x="1523997" y="1056729"/>
            <a:ext cx="9144000" cy="613701"/>
          </a:xfrm>
        </p:spPr>
        <p:txBody>
          <a:bodyPr>
            <a:normAutofit lnSpcReduction="10000"/>
          </a:bodyPr>
          <a:lstStyle/>
          <a:p>
            <a:pPr algn="l"/>
            <a:r>
              <a:rPr lang="el-GR" sz="2000" dirty="0" smtClean="0"/>
              <a:t>Το τρενάκι περιμένει να γεμίσει και όταν η </a:t>
            </a:r>
            <a:r>
              <a:rPr lang="en-US" sz="2000" dirty="0" smtClean="0"/>
              <a:t>main </a:t>
            </a:r>
            <a:r>
              <a:rPr lang="el-GR" sz="2000" dirty="0" smtClean="0"/>
              <a:t>το ειδοποιήσει να τερματίσει, λέει στους εναπομείναντες επιβάτες στο </a:t>
            </a:r>
            <a:r>
              <a:rPr lang="en-US" sz="2000" dirty="0" smtClean="0"/>
              <a:t>queue </a:t>
            </a:r>
            <a:r>
              <a:rPr lang="el-GR" sz="2000" dirty="0" smtClean="0"/>
              <a:t>να τερματίσουν και αυτοί.</a:t>
            </a:r>
            <a:endParaRPr lang="el-GR" sz="20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1022573" y="2193091"/>
            <a:ext cx="10146847" cy="2677656"/>
          </a:xfrm>
          <a:prstGeom prst="rect">
            <a:avLst/>
          </a:prstGeom>
          <a:solidFill>
            <a:srgbClr val="333333"/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C586C0"/>
                </a:solidFill>
                <a:latin typeface="Source Code Pro" panose="020B0509030403020204" pitchFamily="49" charset="0"/>
              </a:rPr>
              <a:t>while</a:t>
            </a:r>
            <a:r>
              <a:rPr lang="en-US" sz="14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sz="1400" dirty="0" smtClean="0">
                <a:solidFill>
                  <a:srgbClr val="B5CEA8"/>
                </a:solidFill>
                <a:latin typeface="Source Code Pro" panose="020B0509030403020204" pitchFamily="49" charset="0"/>
              </a:rPr>
              <a:t>true</a:t>
            </a:r>
            <a:r>
              <a:rPr lang="en-US" sz="14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)</a:t>
            </a:r>
            <a:endParaRPr lang="en-US" sz="1400" dirty="0">
              <a:solidFill>
                <a:srgbClr val="D4D4D4"/>
              </a:solidFill>
              <a:latin typeface="Source Code Pro" panose="020B0509030403020204" pitchFamily="49" charset="0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{</a:t>
            </a:r>
            <a:r>
              <a:rPr lang="en-US" sz="1400" dirty="0">
                <a:solidFill>
                  <a:srgbClr val="D4D4D4"/>
                </a:solidFill>
                <a:latin typeface="Source Code Pro" panose="020B0509030403020204" pitchFamily="49" charset="0"/>
              </a:rPr>
              <a:t>        </a:t>
            </a:r>
            <a:endParaRPr lang="en-US" sz="1400" dirty="0" smtClean="0">
              <a:solidFill>
                <a:srgbClr val="DCDCAA"/>
              </a:solidFill>
              <a:latin typeface="Source Code Pro" panose="020B0509030403020204" pitchFamily="49" charset="0"/>
            </a:endParaRPr>
          </a:p>
          <a:p>
            <a:r>
              <a:rPr lang="en-US" sz="1400" dirty="0" smtClean="0">
                <a:solidFill>
                  <a:srgbClr val="DCDCAA"/>
                </a:solidFill>
                <a:latin typeface="Source Code Pro" panose="020B0509030403020204" pitchFamily="49" charset="0"/>
              </a:rPr>
              <a:t>        down</a:t>
            </a:r>
            <a:r>
              <a:rPr lang="en-US" sz="14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sz="1400" dirty="0" err="1" smtClean="0">
                <a:solidFill>
                  <a:srgbClr val="9CDCFE"/>
                </a:solidFill>
                <a:latin typeface="Source Code Pro" panose="020B0509030403020204" pitchFamily="49" charset="0"/>
              </a:rPr>
              <a:t>train_go</a:t>
            </a:r>
            <a:r>
              <a:rPr lang="en-US" sz="1400" dirty="0">
                <a:solidFill>
                  <a:srgbClr val="D4D4D4"/>
                </a:solidFill>
                <a:latin typeface="Source Code Pro" panose="020B0509030403020204" pitchFamily="49" charset="0"/>
              </a:rPr>
              <a:t>);</a:t>
            </a:r>
          </a:p>
          <a:p>
            <a:r>
              <a:rPr lang="en-US" sz="1400" dirty="0">
                <a:solidFill>
                  <a:srgbClr val="D4D4D4"/>
                </a:solidFill>
                <a:latin typeface="Source Code Pro" panose="020B0509030403020204" pitchFamily="49" charset="0"/>
              </a:rPr>
              <a:t>        </a:t>
            </a:r>
            <a:r>
              <a:rPr lang="en-US" sz="1400" dirty="0">
                <a:solidFill>
                  <a:srgbClr val="C586C0"/>
                </a:solidFill>
                <a:latin typeface="Source Code Pro" panose="020B0509030403020204" pitchFamily="49" charset="0"/>
              </a:rPr>
              <a:t>if</a:t>
            </a:r>
            <a:r>
              <a:rPr lang="en-US" sz="14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(!</a:t>
            </a:r>
            <a:r>
              <a:rPr lang="en-US" sz="1400" dirty="0" smtClean="0">
                <a:solidFill>
                  <a:srgbClr val="9CDCFE"/>
                </a:solidFill>
                <a:latin typeface="Source Code Pro" panose="020B0509030403020204" pitchFamily="49" charset="0"/>
              </a:rPr>
              <a:t>on</a:t>
            </a:r>
            <a:r>
              <a:rPr lang="en-US" sz="14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 </a:t>
            </a:r>
            <a:r>
              <a:rPr lang="en-US" sz="1400" dirty="0">
                <a:solidFill>
                  <a:srgbClr val="D4D4D4"/>
                </a:solidFill>
                <a:latin typeface="Source Code Pro" panose="020B0509030403020204" pitchFamily="49" charset="0"/>
              </a:rPr>
              <a:t>&amp;&amp; </a:t>
            </a:r>
            <a:r>
              <a:rPr lang="en-US" sz="1400" dirty="0" smtClean="0">
                <a:solidFill>
                  <a:srgbClr val="9CDCFE"/>
                </a:solidFill>
                <a:latin typeface="Source Code Pro" panose="020B0509030403020204" pitchFamily="49" charset="0"/>
              </a:rPr>
              <a:t>queue</a:t>
            </a:r>
            <a:r>
              <a:rPr lang="en-US" sz="14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 </a:t>
            </a:r>
            <a:r>
              <a:rPr lang="en-US" sz="1400" dirty="0">
                <a:solidFill>
                  <a:srgbClr val="D4D4D4"/>
                </a:solidFill>
                <a:latin typeface="Source Code Pro" panose="020B0509030403020204" pitchFamily="49" charset="0"/>
              </a:rPr>
              <a:t>&lt; </a:t>
            </a:r>
            <a:r>
              <a:rPr lang="en-US" sz="1400" dirty="0" smtClean="0">
                <a:solidFill>
                  <a:srgbClr val="9CDCFE"/>
                </a:solidFill>
                <a:latin typeface="Source Code Pro" panose="020B0509030403020204" pitchFamily="49" charset="0"/>
              </a:rPr>
              <a:t>capacity</a:t>
            </a:r>
            <a:r>
              <a:rPr lang="en-US" sz="14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) </a:t>
            </a:r>
            <a:r>
              <a:rPr lang="en-US" sz="1400" dirty="0">
                <a:solidFill>
                  <a:srgbClr val="D4D4D4"/>
                </a:solidFill>
                <a:latin typeface="Source Code Pro" panose="020B0509030403020204" pitchFamily="49" charset="0"/>
              </a:rPr>
              <a:t>{ </a:t>
            </a:r>
            <a:r>
              <a:rPr lang="en-US" sz="1400" dirty="0" smtClean="0">
                <a:solidFill>
                  <a:srgbClr val="DCDCAA"/>
                </a:solidFill>
                <a:latin typeface="Source Code Pro" panose="020B0509030403020204" pitchFamily="49" charset="0"/>
              </a:rPr>
              <a:t>up</a:t>
            </a:r>
            <a:r>
              <a:rPr lang="en-US" sz="14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sz="1400" dirty="0" err="1" smtClean="0">
                <a:solidFill>
                  <a:srgbClr val="9CDCFE"/>
                </a:solidFill>
                <a:latin typeface="Source Code Pro" panose="020B0509030403020204" pitchFamily="49" charset="0"/>
              </a:rPr>
              <a:t>pass_board</a:t>
            </a:r>
            <a:r>
              <a:rPr lang="en-US" sz="1400" dirty="0">
                <a:solidFill>
                  <a:srgbClr val="D4D4D4"/>
                </a:solidFill>
                <a:latin typeface="Source Code Pro" panose="020B0509030403020204" pitchFamily="49" charset="0"/>
              </a:rPr>
              <a:t>); </a:t>
            </a:r>
            <a:r>
              <a:rPr lang="en-US" sz="1400" dirty="0">
                <a:solidFill>
                  <a:srgbClr val="C586C0"/>
                </a:solidFill>
                <a:latin typeface="Source Code Pro" panose="020B0509030403020204" pitchFamily="49" charset="0"/>
              </a:rPr>
              <a:t>break</a:t>
            </a:r>
            <a:r>
              <a:rPr lang="en-US" sz="1400" dirty="0">
                <a:solidFill>
                  <a:srgbClr val="D4D4D4"/>
                </a:solidFill>
                <a:latin typeface="Source Code Pro" panose="020B0509030403020204" pitchFamily="49" charset="0"/>
              </a:rPr>
              <a:t>; }</a:t>
            </a:r>
          </a:p>
          <a:p>
            <a:r>
              <a:rPr lang="en-US" sz="1400" dirty="0">
                <a:solidFill>
                  <a:srgbClr val="D4D4D4"/>
                </a:solidFill>
                <a:latin typeface="Source Code Pro" panose="020B0509030403020204" pitchFamily="49" charset="0"/>
              </a:rPr>
              <a:t/>
            </a:r>
            <a:br>
              <a:rPr lang="en-US" sz="1400" dirty="0">
                <a:solidFill>
                  <a:srgbClr val="D4D4D4"/>
                </a:solidFill>
                <a:latin typeface="Source Code Pro" panose="020B0509030403020204" pitchFamily="49" charset="0"/>
              </a:rPr>
            </a:br>
            <a:r>
              <a:rPr lang="en-US" sz="1400" dirty="0">
                <a:solidFill>
                  <a:srgbClr val="D4D4D4"/>
                </a:solidFill>
                <a:latin typeface="Source Code Pro" panose="020B0509030403020204" pitchFamily="49" charset="0"/>
              </a:rPr>
              <a:t>        </a:t>
            </a:r>
            <a:r>
              <a:rPr lang="en-US" sz="1400" dirty="0">
                <a:solidFill>
                  <a:srgbClr val="DCDCAA"/>
                </a:solidFill>
                <a:latin typeface="Source Code Pro" panose="020B0509030403020204" pitchFamily="49" charset="0"/>
              </a:rPr>
              <a:t>sleep</a:t>
            </a:r>
            <a:r>
              <a:rPr lang="en-US" sz="1400" dirty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sz="1400" dirty="0">
                <a:solidFill>
                  <a:srgbClr val="569CD6"/>
                </a:solidFill>
                <a:latin typeface="Source Code Pro" panose="020B0509030403020204" pitchFamily="49" charset="0"/>
              </a:rPr>
              <a:t>DUR_FLIGHT</a:t>
            </a:r>
            <a:r>
              <a:rPr lang="en-US" sz="1400" dirty="0">
                <a:solidFill>
                  <a:srgbClr val="D4D4D4"/>
                </a:solidFill>
                <a:latin typeface="Source Code Pro" panose="020B0509030403020204" pitchFamily="49" charset="0"/>
              </a:rPr>
              <a:t>);</a:t>
            </a:r>
          </a:p>
          <a:p>
            <a:r>
              <a:rPr lang="en-US" sz="1400" dirty="0">
                <a:solidFill>
                  <a:srgbClr val="D4D4D4"/>
                </a:solidFill>
                <a:latin typeface="Source Code Pro" panose="020B0509030403020204" pitchFamily="49" charset="0"/>
              </a:rPr>
              <a:t/>
            </a:r>
            <a:br>
              <a:rPr lang="en-US" sz="1400" dirty="0">
                <a:solidFill>
                  <a:srgbClr val="D4D4D4"/>
                </a:solidFill>
                <a:latin typeface="Source Code Pro" panose="020B0509030403020204" pitchFamily="49" charset="0"/>
              </a:rPr>
            </a:br>
            <a:r>
              <a:rPr lang="en-US" sz="1400" dirty="0">
                <a:solidFill>
                  <a:srgbClr val="D4D4D4"/>
                </a:solidFill>
                <a:latin typeface="Source Code Pro" panose="020B0509030403020204" pitchFamily="49" charset="0"/>
              </a:rPr>
              <a:t>        </a:t>
            </a:r>
            <a:r>
              <a:rPr lang="en-US" sz="1400" dirty="0" smtClean="0">
                <a:solidFill>
                  <a:srgbClr val="DCDCAA"/>
                </a:solidFill>
                <a:latin typeface="Source Code Pro" panose="020B0509030403020204" pitchFamily="49" charset="0"/>
              </a:rPr>
              <a:t>down</a:t>
            </a:r>
            <a:r>
              <a:rPr lang="en-US" sz="14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sz="1400" dirty="0" err="1">
                <a:solidFill>
                  <a:srgbClr val="9CDCFE"/>
                </a:solidFill>
                <a:latin typeface="Source Code Pro" panose="020B0509030403020204" pitchFamily="49" charset="0"/>
              </a:rPr>
              <a:t>m</a:t>
            </a:r>
            <a:r>
              <a:rPr lang="en-US" sz="1400" dirty="0" err="1" smtClean="0">
                <a:solidFill>
                  <a:srgbClr val="9CDCFE"/>
                </a:solidFill>
                <a:latin typeface="Source Code Pro" panose="020B0509030403020204" pitchFamily="49" charset="0"/>
              </a:rPr>
              <a:t>utex</a:t>
            </a:r>
            <a:r>
              <a:rPr lang="en-US" sz="1400" dirty="0">
                <a:solidFill>
                  <a:srgbClr val="D4D4D4"/>
                </a:solidFill>
                <a:latin typeface="Source Code Pro" panose="020B0509030403020204" pitchFamily="49" charset="0"/>
              </a:rPr>
              <a:t>);</a:t>
            </a:r>
          </a:p>
          <a:p>
            <a:r>
              <a:rPr lang="en-US" sz="1400" dirty="0">
                <a:solidFill>
                  <a:srgbClr val="D4D4D4"/>
                </a:solidFill>
                <a:latin typeface="Source Code Pro" panose="020B0509030403020204" pitchFamily="49" charset="0"/>
              </a:rPr>
              <a:t>        </a:t>
            </a:r>
            <a:r>
              <a:rPr lang="en-US" sz="1400" dirty="0" err="1" smtClean="0">
                <a:solidFill>
                  <a:srgbClr val="9CDCFE"/>
                </a:solidFill>
                <a:latin typeface="Source Code Pro" panose="020B0509030403020204" pitchFamily="49" charset="0"/>
              </a:rPr>
              <a:t>num</a:t>
            </a:r>
            <a:r>
              <a:rPr lang="en-US" sz="14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 </a:t>
            </a:r>
            <a:r>
              <a:rPr lang="en-US" sz="1400" dirty="0">
                <a:solidFill>
                  <a:srgbClr val="D4D4D4"/>
                </a:solidFill>
                <a:latin typeface="Source Code Pro" panose="020B0509030403020204" pitchFamily="49" charset="0"/>
              </a:rPr>
              <a:t>= </a:t>
            </a:r>
            <a:r>
              <a:rPr lang="en-US" sz="1400" dirty="0">
                <a:solidFill>
                  <a:srgbClr val="B5CEA8"/>
                </a:solidFill>
                <a:latin typeface="Source Code Pro" panose="020B0509030403020204" pitchFamily="49" charset="0"/>
              </a:rPr>
              <a:t>0</a:t>
            </a:r>
            <a:r>
              <a:rPr lang="en-US" sz="1400" dirty="0">
                <a:solidFill>
                  <a:srgbClr val="D4D4D4"/>
                </a:solidFill>
                <a:latin typeface="Source Code Pro" panose="020B0509030403020204" pitchFamily="49" charset="0"/>
              </a:rPr>
              <a:t>;</a:t>
            </a:r>
          </a:p>
          <a:p>
            <a:r>
              <a:rPr lang="en-US" sz="1400" dirty="0">
                <a:solidFill>
                  <a:srgbClr val="D4D4D4"/>
                </a:solidFill>
                <a:latin typeface="Source Code Pro" panose="020B0509030403020204" pitchFamily="49" charset="0"/>
              </a:rPr>
              <a:t>        </a:t>
            </a:r>
            <a:r>
              <a:rPr lang="en-US" sz="1400" dirty="0" smtClean="0">
                <a:solidFill>
                  <a:srgbClr val="DCDCAA"/>
                </a:solidFill>
                <a:latin typeface="Source Code Pro" panose="020B0509030403020204" pitchFamily="49" charset="0"/>
              </a:rPr>
              <a:t>up</a:t>
            </a:r>
            <a:r>
              <a:rPr lang="en-US" sz="14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sz="1400" dirty="0" err="1">
                <a:solidFill>
                  <a:srgbClr val="9CDCFE"/>
                </a:solidFill>
                <a:latin typeface="Source Code Pro" panose="020B0509030403020204" pitchFamily="49" charset="0"/>
              </a:rPr>
              <a:t>m</a:t>
            </a:r>
            <a:r>
              <a:rPr lang="en-US" sz="1400" dirty="0" err="1" smtClean="0">
                <a:solidFill>
                  <a:srgbClr val="9CDCFE"/>
                </a:solidFill>
                <a:latin typeface="Source Code Pro" panose="020B0509030403020204" pitchFamily="49" charset="0"/>
              </a:rPr>
              <a:t>utex</a:t>
            </a:r>
            <a:r>
              <a:rPr lang="en-US" sz="1400" dirty="0">
                <a:solidFill>
                  <a:srgbClr val="D4D4D4"/>
                </a:solidFill>
                <a:latin typeface="Source Code Pro" panose="020B0509030403020204" pitchFamily="49" charset="0"/>
              </a:rPr>
              <a:t>);</a:t>
            </a:r>
          </a:p>
          <a:p>
            <a:r>
              <a:rPr lang="en-US" sz="1400" dirty="0">
                <a:solidFill>
                  <a:srgbClr val="D4D4D4"/>
                </a:solidFill>
                <a:latin typeface="Source Code Pro" panose="020B0509030403020204" pitchFamily="49" charset="0"/>
              </a:rPr>
              <a:t>        </a:t>
            </a:r>
            <a:r>
              <a:rPr lang="en-US" sz="1400" dirty="0" smtClean="0">
                <a:solidFill>
                  <a:srgbClr val="DCDCAA"/>
                </a:solidFill>
                <a:latin typeface="Source Code Pro" panose="020B0509030403020204" pitchFamily="49" charset="0"/>
              </a:rPr>
              <a:t>up</a:t>
            </a:r>
            <a:r>
              <a:rPr lang="en-US" sz="14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sz="1400" dirty="0" err="1" smtClean="0">
                <a:solidFill>
                  <a:srgbClr val="9CDCFE"/>
                </a:solidFill>
                <a:latin typeface="Source Code Pro" panose="020B0509030403020204" pitchFamily="49" charset="0"/>
              </a:rPr>
              <a:t>pass_board</a:t>
            </a:r>
            <a:r>
              <a:rPr lang="en-US" sz="1400" dirty="0">
                <a:solidFill>
                  <a:srgbClr val="D4D4D4"/>
                </a:solidFill>
                <a:latin typeface="Source Code Pro" panose="020B0509030403020204" pitchFamily="49" charset="0"/>
              </a:rPr>
              <a:t>);     </a:t>
            </a:r>
            <a:r>
              <a:rPr lang="en-US" sz="1400" dirty="0">
                <a:solidFill>
                  <a:srgbClr val="6A9955"/>
                </a:solidFill>
                <a:latin typeface="Source Code Pro" panose="020B0509030403020204" pitchFamily="49" charset="0"/>
              </a:rPr>
              <a:t>// signal to blocked passengers that they can board</a:t>
            </a:r>
            <a:endParaRPr lang="en-US" sz="1400" dirty="0">
              <a:solidFill>
                <a:srgbClr val="D4D4D4"/>
              </a:solidFill>
              <a:latin typeface="Source Code Pro" panose="020B0509030403020204" pitchFamily="49" charset="0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}</a:t>
            </a:r>
            <a:endParaRPr lang="en-US" sz="1400" b="0" dirty="0">
              <a:solidFill>
                <a:srgbClr val="D4D4D4"/>
              </a:solidFill>
              <a:effectLst/>
              <a:latin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400801"/>
      </p:ext>
    </p:extLst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257</Words>
  <Application>Microsoft Office PowerPoint</Application>
  <PresentationFormat>Ευρεία οθόνη</PresentationFormat>
  <Paragraphs>66</Paragraphs>
  <Slides>5</Slides>
  <Notes>5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4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Source Code Pro</vt:lpstr>
      <vt:lpstr>Θέμα του Office</vt:lpstr>
      <vt:lpstr>Τρενάκι</vt:lpstr>
      <vt:lpstr>Λειτουργία προγράμματος</vt:lpstr>
      <vt:lpstr>Λειτουργία main</vt:lpstr>
      <vt:lpstr>Λειτουργία των passenger threads</vt:lpstr>
      <vt:lpstr>Λειτουργία του train thread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thread-safe pipe implementation</dc:title>
  <dc:creator>evan</dc:creator>
  <cp:lastModifiedBy>evan</cp:lastModifiedBy>
  <cp:revision>33</cp:revision>
  <dcterms:created xsi:type="dcterms:W3CDTF">2021-11-01T11:33:56Z</dcterms:created>
  <dcterms:modified xsi:type="dcterms:W3CDTF">2021-11-27T11:13:28Z</dcterms:modified>
</cp:coreProperties>
</file>