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l-G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Μεσαίο στυλ 2 - Έμφαση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Μεσαίο στυλ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1618" y="81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myfiles\dev\tautoxronos\set1\askisi2\askisi2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l-G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Threads</a:t>
            </a:r>
            <a:r>
              <a:rPr lang="en-US" baseline="0"/>
              <a:t> vs execution time</a:t>
            </a:r>
          </a:p>
          <a:p>
            <a:pPr>
              <a:defRPr/>
            </a:pPr>
            <a:r>
              <a:rPr lang="en-US" baseline="0"/>
              <a:t>(1K, 10K and 1M numbers test)</a:t>
            </a:r>
            <a:endParaRPr lang="el-GR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l-GR"/>
        </a:p>
      </c:txPr>
    </c:title>
    <c:autoTitleDeleted val="0"/>
    <c:plotArea>
      <c:layout/>
      <c:lineChart>
        <c:grouping val="standard"/>
        <c:varyColors val="0"/>
        <c:ser>
          <c:idx val="1"/>
          <c:order val="0"/>
          <c:tx>
            <c:v>1K large primes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Φύλλο1!$A$3:$A$19</c:f>
              <c:numCache>
                <c:formatCode>General</c:formatCode>
                <c:ptCount val="17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8</c:v>
                </c:pt>
                <c:pt idx="7">
                  <c:v>12</c:v>
                </c:pt>
                <c:pt idx="8">
                  <c:v>16</c:v>
                </c:pt>
                <c:pt idx="9">
                  <c:v>32</c:v>
                </c:pt>
                <c:pt idx="10">
                  <c:v>64</c:v>
                </c:pt>
                <c:pt idx="11">
                  <c:v>128</c:v>
                </c:pt>
                <c:pt idx="12">
                  <c:v>256</c:v>
                </c:pt>
                <c:pt idx="13">
                  <c:v>512</c:v>
                </c:pt>
                <c:pt idx="14">
                  <c:v>1024</c:v>
                </c:pt>
                <c:pt idx="15">
                  <c:v>2048</c:v>
                </c:pt>
                <c:pt idx="16">
                  <c:v>4096</c:v>
                </c:pt>
              </c:numCache>
            </c:numRef>
          </c:cat>
          <c:val>
            <c:numRef>
              <c:f>Φύλλο1!$B$3:$B$19</c:f>
              <c:numCache>
                <c:formatCode>#,##0.000</c:formatCode>
                <c:ptCount val="17"/>
                <c:pt idx="0">
                  <c:v>16.548030000000001</c:v>
                </c:pt>
                <c:pt idx="1">
                  <c:v>8.9340810000000008</c:v>
                </c:pt>
                <c:pt idx="2">
                  <c:v>6.1010220000000004</c:v>
                </c:pt>
                <c:pt idx="3">
                  <c:v>5.2443739999999996</c:v>
                </c:pt>
                <c:pt idx="4">
                  <c:v>4.3290610000000003</c:v>
                </c:pt>
                <c:pt idx="5">
                  <c:v>4.0244770000000001</c:v>
                </c:pt>
                <c:pt idx="6">
                  <c:v>3.3841920000000001</c:v>
                </c:pt>
                <c:pt idx="7">
                  <c:v>3.2159960000000001</c:v>
                </c:pt>
                <c:pt idx="8">
                  <c:v>3.0273059999999998</c:v>
                </c:pt>
                <c:pt idx="9">
                  <c:v>2.9490859999999999</c:v>
                </c:pt>
                <c:pt idx="10">
                  <c:v>2.9014509999999998</c:v>
                </c:pt>
                <c:pt idx="11">
                  <c:v>2.7698230000000001</c:v>
                </c:pt>
                <c:pt idx="12">
                  <c:v>2.8168859999999998</c:v>
                </c:pt>
                <c:pt idx="13">
                  <c:v>2.8217089999999998</c:v>
                </c:pt>
                <c:pt idx="14">
                  <c:v>2.8375720000000002</c:v>
                </c:pt>
                <c:pt idx="15">
                  <c:v>3.0282770000000001</c:v>
                </c:pt>
                <c:pt idx="16">
                  <c:v>3.1574270000000002</c:v>
                </c:pt>
              </c:numCache>
            </c:numRef>
          </c:val>
          <c:smooth val="0"/>
        </c:ser>
        <c:ser>
          <c:idx val="0"/>
          <c:order val="1"/>
          <c:tx>
            <c:v>10K large primes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Φύλλο1!$C$3:$C$19</c:f>
              <c:numCache>
                <c:formatCode>0.000</c:formatCode>
                <c:ptCount val="17"/>
                <c:pt idx="0">
                  <c:v>161.82813999999999</c:v>
                </c:pt>
                <c:pt idx="1">
                  <c:v>87.174374999999998</c:v>
                </c:pt>
                <c:pt idx="2">
                  <c:v>61.012281999999999</c:v>
                </c:pt>
                <c:pt idx="3">
                  <c:v>49.183348000000002</c:v>
                </c:pt>
                <c:pt idx="4">
                  <c:v>42.065643999999999</c:v>
                </c:pt>
                <c:pt idx="5">
                  <c:v>36.989930000000001</c:v>
                </c:pt>
                <c:pt idx="6">
                  <c:v>31.457979000000002</c:v>
                </c:pt>
                <c:pt idx="7">
                  <c:v>28.818594000000001</c:v>
                </c:pt>
                <c:pt idx="8">
                  <c:v>28.261875</c:v>
                </c:pt>
                <c:pt idx="9">
                  <c:v>28.093989000000001</c:v>
                </c:pt>
                <c:pt idx="10">
                  <c:v>28.536753000000001</c:v>
                </c:pt>
                <c:pt idx="11">
                  <c:v>30.310072999999999</c:v>
                </c:pt>
                <c:pt idx="12">
                  <c:v>31.671174000000001</c:v>
                </c:pt>
                <c:pt idx="13">
                  <c:v>33.175257999999999</c:v>
                </c:pt>
                <c:pt idx="14">
                  <c:v>32.662872999999998</c:v>
                </c:pt>
                <c:pt idx="15">
                  <c:v>32.737262999999999</c:v>
                </c:pt>
                <c:pt idx="16">
                  <c:v>31.509398999999998</c:v>
                </c:pt>
              </c:numCache>
            </c:numRef>
          </c:val>
          <c:smooth val="0"/>
        </c:ser>
        <c:ser>
          <c:idx val="2"/>
          <c:order val="2"/>
          <c:tx>
            <c:v>1M small primes</c:v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val>
            <c:numRef>
              <c:f>Φύλλο1!$D$3:$D$19</c:f>
              <c:numCache>
                <c:formatCode>0.000</c:formatCode>
                <c:ptCount val="17"/>
                <c:pt idx="0">
                  <c:v>23.409521999999999</c:v>
                </c:pt>
                <c:pt idx="1">
                  <c:v>115.56241</c:v>
                </c:pt>
                <c:pt idx="2">
                  <c:v>120.83090799999999</c:v>
                </c:pt>
                <c:pt idx="3">
                  <c:v>122.016143</c:v>
                </c:pt>
                <c:pt idx="4">
                  <c:v>112.721204</c:v>
                </c:pt>
                <c:pt idx="5">
                  <c:v>124.00135400000001</c:v>
                </c:pt>
                <c:pt idx="6">
                  <c:v>122.58877699999999</c:v>
                </c:pt>
                <c:pt idx="7">
                  <c:v>120.515388</c:v>
                </c:pt>
                <c:pt idx="8">
                  <c:v>118.19896199999999</c:v>
                </c:pt>
                <c:pt idx="9">
                  <c:v>122.080208</c:v>
                </c:pt>
                <c:pt idx="10">
                  <c:v>122.42071199999999</c:v>
                </c:pt>
                <c:pt idx="11">
                  <c:v>128.16175899999999</c:v>
                </c:pt>
                <c:pt idx="12">
                  <c:v>129.85781299999999</c:v>
                </c:pt>
                <c:pt idx="13">
                  <c:v>133.315178</c:v>
                </c:pt>
                <c:pt idx="14">
                  <c:v>134.713774</c:v>
                </c:pt>
                <c:pt idx="15">
                  <c:v>144.441937</c:v>
                </c:pt>
                <c:pt idx="16">
                  <c:v>152.50747799999999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717629248"/>
        <c:axId val="1717629792"/>
      </c:lineChart>
      <c:catAx>
        <c:axId val="1717629248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#</a:t>
                </a:r>
                <a:r>
                  <a:rPr lang="en-US" baseline="0"/>
                  <a:t> threads</a:t>
                </a:r>
                <a:endParaRPr lang="el-GR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l-GR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l-GR"/>
          </a:p>
        </c:txPr>
        <c:crossAx val="1717629792"/>
        <c:crosses val="autoZero"/>
        <c:auto val="1"/>
        <c:lblAlgn val="ctr"/>
        <c:lblOffset val="100"/>
        <c:noMultiLvlLbl val="0"/>
      </c:catAx>
      <c:valAx>
        <c:axId val="1717629792"/>
        <c:scaling>
          <c:orientation val="minMax"/>
          <c:max val="18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 smtClean="0"/>
                  <a:t>Time</a:t>
                </a:r>
                <a:r>
                  <a:rPr lang="en-US" baseline="0" dirty="0" smtClean="0"/>
                  <a:t> (s)</a:t>
                </a:r>
                <a:endParaRPr lang="en-US" dirty="0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l-GR"/>
            </a:p>
          </c:txPr>
        </c:title>
        <c:numFmt formatCode="#,##0.000" sourceLinked="1"/>
        <c:majorTickMark val="none"/>
        <c:minorTickMark val="none"/>
        <c:tickLblPos val="nextTo"/>
        <c:spPr>
          <a:noFill/>
          <a:ln>
            <a:solidFill>
              <a:schemeClr val="accent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l-GR"/>
          </a:p>
        </c:txPr>
        <c:crossAx val="17176292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l-GR"/>
        </a:p>
      </c:txPr>
    </c:legend>
    <c:plotVisOnly val="1"/>
    <c:dispBlanksAs val="gap"/>
    <c:showDLblsOverMax val="0"/>
  </c:chart>
  <c:spPr>
    <a:noFill/>
    <a:ln w="19050">
      <a:solidFill>
        <a:schemeClr val="bg1">
          <a:lumMod val="65000"/>
        </a:schemeClr>
      </a:solidFill>
    </a:ln>
    <a:effectLst/>
  </c:spPr>
  <c:txPr>
    <a:bodyPr/>
    <a:lstStyle/>
    <a:p>
      <a:pPr>
        <a:defRPr/>
      </a:pPr>
      <a:endParaRPr lang="el-G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κεφαλίδας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3" name="Θέση ημερομηνίας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33C0D5-E1F5-481E-9596-330DB891AFA2}" type="datetimeFigureOut">
              <a:rPr lang="el-GR" smtClean="0"/>
              <a:t>06/11/2021</a:t>
            </a:fld>
            <a:endParaRPr lang="el-GR"/>
          </a:p>
        </p:txBody>
      </p:sp>
      <p:sp>
        <p:nvSpPr>
          <p:cNvPr id="4" name="Θέση εικόνας διαφάνειας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l-GR"/>
          </a:p>
        </p:txBody>
      </p:sp>
      <p:sp>
        <p:nvSpPr>
          <p:cNvPr id="5" name="Θέση σημειώσεων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l-GR" smtClean="0"/>
              <a:t>Στυλ υποδείγματος κειμένου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l-GR"/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60A052-7942-41CF-B178-D636C489F9C1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6426852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60A052-7942-41CF-B178-D636C489F9C1}" type="slidenum">
              <a:rPr lang="el-GR" smtClean="0"/>
              <a:t>1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7259996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60A052-7942-41CF-B178-D636C489F9C1}" type="slidenum">
              <a:rPr lang="el-GR" smtClean="0"/>
              <a:t>2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5825537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60A052-7942-41CF-B178-D636C489F9C1}" type="slidenum">
              <a:rPr lang="el-GR" smtClean="0"/>
              <a:t>3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0258136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60A052-7942-41CF-B178-D636C489F9C1}" type="slidenum">
              <a:rPr lang="el-GR" smtClean="0"/>
              <a:t>4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8593943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60A052-7942-41CF-B178-D636C489F9C1}" type="slidenum">
              <a:rPr lang="el-GR" smtClean="0"/>
              <a:t>5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9773929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60A052-7942-41CF-B178-D636C489F9C1}" type="slidenum">
              <a:rPr lang="el-GR" smtClean="0"/>
              <a:t>6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8956101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60A052-7942-41CF-B178-D636C489F9C1}" type="slidenum">
              <a:rPr lang="el-GR" smtClean="0"/>
              <a:t>7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8697769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Διαφάνεια τίτλο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l-GR" smtClean="0"/>
              <a:t>Στυλ κύριου τίτλου</a:t>
            </a:r>
            <a:endParaRPr lang="el-GR"/>
          </a:p>
        </p:txBody>
      </p:sp>
      <p:sp>
        <p:nvSpPr>
          <p:cNvPr id="3" name="Υπότιτλος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l-GR" smtClean="0"/>
              <a:t>Στυλ κύριου υπότιτλου</a:t>
            </a:r>
            <a:endParaRPr lang="el-GR"/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0D64B-0F15-4039-8FBC-72B45DC644A7}" type="datetime1">
              <a:rPr lang="el-GR" smtClean="0"/>
              <a:t>06/11/2021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ECE321 Concurrent Programming 2021-2022</a:t>
            </a:r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6C5DC-FA73-4DC1-B7FD-3CFA1F3B661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5622070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Τίτλος και περιεχό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smtClean="0"/>
              <a:t>Στυλ κύριου τίτλου</a:t>
            </a:r>
            <a:endParaRPr lang="el-GR"/>
          </a:p>
        </p:txBody>
      </p:sp>
      <p:sp>
        <p:nvSpPr>
          <p:cNvPr id="3" name="Θέση περιεχομένου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l-GR" smtClean="0"/>
              <a:t>Στυλ υποδείγματος κειμένου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l-GR"/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FA996-A19B-4BDD-A82C-AB08C8E38545}" type="datetime1">
              <a:rPr lang="el-GR" smtClean="0"/>
              <a:t>06/11/2021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ECE321 Concurrent Programming 2021-2022</a:t>
            </a:r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6C5DC-FA73-4DC1-B7FD-3CFA1F3B661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1892930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Κεφαλίδα ενότητα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l-GR" smtClean="0"/>
              <a:t>Στυλ κύριου τίτλου</a:t>
            </a:r>
            <a:endParaRPr lang="el-GR"/>
          </a:p>
        </p:txBody>
      </p:sp>
      <p:sp>
        <p:nvSpPr>
          <p:cNvPr id="3" name="Θέση κειμένου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l-GR" smtClean="0"/>
              <a:t>Στυλ υποδείγματος κειμένου</a:t>
            </a:r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4F0F1-95E1-4D7E-B2B4-E3024FFE3E67}" type="datetime1">
              <a:rPr lang="el-GR" smtClean="0"/>
              <a:t>06/11/2021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ECE321 Concurrent Programming 2021-2022</a:t>
            </a:r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6C5DC-FA73-4DC1-B7FD-3CFA1F3B661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783866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Δύο περιεχόμεν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smtClean="0"/>
              <a:t>Στυλ κύριου τίτλου</a:t>
            </a:r>
            <a:endParaRPr lang="el-GR"/>
          </a:p>
        </p:txBody>
      </p:sp>
      <p:sp>
        <p:nvSpPr>
          <p:cNvPr id="3" name="Θέση περιεχομένου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l-GR" smtClean="0"/>
              <a:t>Στυλ υποδείγματος κειμένου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l-GR"/>
          </a:p>
        </p:txBody>
      </p:sp>
      <p:sp>
        <p:nvSpPr>
          <p:cNvPr id="4" name="Θέση περιεχομένου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l-GR" smtClean="0"/>
              <a:t>Στυλ υποδείγματος κειμένου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l-GR"/>
          </a:p>
        </p:txBody>
      </p:sp>
      <p:sp>
        <p:nvSpPr>
          <p:cNvPr id="5" name="Θέση ημερομηνίας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A38B7-B1B5-492F-8AE5-DA4F3996A54C}" type="datetime1">
              <a:rPr lang="el-GR" smtClean="0"/>
              <a:t>06/11/2021</a:t>
            </a:fld>
            <a:endParaRPr lang="el-GR"/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ECE321 Concurrent Programming 2021-2022</a:t>
            </a:r>
            <a:endParaRPr lang="el-GR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6C5DC-FA73-4DC1-B7FD-3CFA1F3B661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858451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Σύγκρισ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l-GR" smtClean="0"/>
              <a:t>Στυλ κύριου τίτλου</a:t>
            </a:r>
            <a:endParaRPr lang="el-GR"/>
          </a:p>
        </p:txBody>
      </p:sp>
      <p:sp>
        <p:nvSpPr>
          <p:cNvPr id="3" name="Θέση κειμένου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 smtClean="0"/>
              <a:t>Στυλ υποδείγματος κειμένου</a:t>
            </a:r>
          </a:p>
        </p:txBody>
      </p:sp>
      <p:sp>
        <p:nvSpPr>
          <p:cNvPr id="4" name="Θέση περιεχομένου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l-GR" smtClean="0"/>
              <a:t>Στυλ υποδείγματος κειμένου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l-GR"/>
          </a:p>
        </p:txBody>
      </p:sp>
      <p:sp>
        <p:nvSpPr>
          <p:cNvPr id="5" name="Θέση κειμένου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 smtClean="0"/>
              <a:t>Στυλ υποδείγματος κειμένου</a:t>
            </a:r>
          </a:p>
        </p:txBody>
      </p:sp>
      <p:sp>
        <p:nvSpPr>
          <p:cNvPr id="6" name="Θέση περιεχομένου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l-GR" smtClean="0"/>
              <a:t>Στυλ υποδείγματος κειμένου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l-GR"/>
          </a:p>
        </p:txBody>
      </p:sp>
      <p:sp>
        <p:nvSpPr>
          <p:cNvPr id="7" name="Θέση ημερομηνίας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D118C-8210-4532-ACDD-520B2862F8DC}" type="datetime1">
              <a:rPr lang="el-GR" smtClean="0"/>
              <a:t>06/11/2021</a:t>
            </a:fld>
            <a:endParaRPr lang="el-GR"/>
          </a:p>
        </p:txBody>
      </p:sp>
      <p:sp>
        <p:nvSpPr>
          <p:cNvPr id="8" name="Θέση υποσέλιδου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ECE321 Concurrent Programming 2021-2022</a:t>
            </a:r>
            <a:endParaRPr lang="el-GR"/>
          </a:p>
        </p:txBody>
      </p:sp>
      <p:sp>
        <p:nvSpPr>
          <p:cNvPr id="9" name="Θέση αριθμού διαφάνειας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6C5DC-FA73-4DC1-B7FD-3CFA1F3B661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075293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Μόνο τίτλο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smtClean="0"/>
              <a:t>Στυλ κύριου τίτλου</a:t>
            </a:r>
            <a:endParaRPr lang="el-GR"/>
          </a:p>
        </p:txBody>
      </p:sp>
      <p:sp>
        <p:nvSpPr>
          <p:cNvPr id="3" name="Θέση ημερομηνίας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54A3F-8F91-4092-AD6D-5981F420888C}" type="datetime1">
              <a:rPr lang="el-GR" smtClean="0"/>
              <a:t>06/11/2021</a:t>
            </a:fld>
            <a:endParaRPr lang="el-GR"/>
          </a:p>
        </p:txBody>
      </p:sp>
      <p:sp>
        <p:nvSpPr>
          <p:cNvPr id="4" name="Θέση υποσέλιδου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ECE321 Concurrent Programming 2021-2022</a:t>
            </a:r>
            <a:endParaRPr lang="el-GR"/>
          </a:p>
        </p:txBody>
      </p:sp>
      <p:sp>
        <p:nvSpPr>
          <p:cNvPr id="5" name="Θέση αριθμού διαφάνειας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6C5DC-FA73-4DC1-B7FD-3CFA1F3B661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041557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Κεν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ημερομηνίας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54BBB-9B88-4C2A-99DC-6177C00EE0F1}" type="datetime1">
              <a:rPr lang="el-GR" smtClean="0"/>
              <a:t>06/11/2021</a:t>
            </a:fld>
            <a:endParaRPr lang="el-GR"/>
          </a:p>
        </p:txBody>
      </p:sp>
      <p:sp>
        <p:nvSpPr>
          <p:cNvPr id="3" name="Θέση υποσέλιδου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ECE321 Concurrent Programming 2021-2022</a:t>
            </a:r>
            <a:endParaRPr lang="el-GR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6C5DC-FA73-4DC1-B7FD-3CFA1F3B661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5881517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Περιεχόμενο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 smtClean="0"/>
              <a:t>Στυλ κύριου τίτλου</a:t>
            </a:r>
            <a:endParaRPr lang="el-GR"/>
          </a:p>
        </p:txBody>
      </p:sp>
      <p:sp>
        <p:nvSpPr>
          <p:cNvPr id="3" name="Θέση περιεχομένου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l-GR" smtClean="0"/>
              <a:t>Στυλ υποδείγματος κειμένου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l-GR"/>
          </a:p>
        </p:txBody>
      </p:sp>
      <p:sp>
        <p:nvSpPr>
          <p:cNvPr id="4" name="Θέση κειμένου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 smtClean="0"/>
              <a:t>Στυλ υποδείγματος κειμένου</a:t>
            </a:r>
          </a:p>
        </p:txBody>
      </p:sp>
      <p:sp>
        <p:nvSpPr>
          <p:cNvPr id="5" name="Θέση ημερομηνίας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236A0-F61F-4AEF-980A-7EA8613CC92E}" type="datetime1">
              <a:rPr lang="el-GR" smtClean="0"/>
              <a:t>06/11/2021</a:t>
            </a:fld>
            <a:endParaRPr lang="el-GR"/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ECE321 Concurrent Programming 2021-2022</a:t>
            </a:r>
            <a:endParaRPr lang="el-GR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6C5DC-FA73-4DC1-B7FD-3CFA1F3B661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1345595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Εικόνα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 smtClean="0"/>
              <a:t>Στυλ κύριου τίτλου</a:t>
            </a:r>
            <a:endParaRPr lang="el-GR"/>
          </a:p>
        </p:txBody>
      </p:sp>
      <p:sp>
        <p:nvSpPr>
          <p:cNvPr id="3" name="Θέση εικόνας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l-GR"/>
          </a:p>
        </p:txBody>
      </p:sp>
      <p:sp>
        <p:nvSpPr>
          <p:cNvPr id="4" name="Θέση κειμένου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 smtClean="0"/>
              <a:t>Στυλ υποδείγματος κειμένου</a:t>
            </a:r>
          </a:p>
        </p:txBody>
      </p:sp>
      <p:sp>
        <p:nvSpPr>
          <p:cNvPr id="5" name="Θέση ημερομηνίας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AA5A8-D45B-4F9D-9132-15C5B3A1F61B}" type="datetime1">
              <a:rPr lang="el-GR" smtClean="0"/>
              <a:t>06/11/2021</a:t>
            </a:fld>
            <a:endParaRPr lang="el-GR"/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ECE321 Concurrent Programming 2021-2022</a:t>
            </a:r>
            <a:endParaRPr lang="el-GR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6C5DC-FA73-4DC1-B7FD-3CFA1F3B661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8310104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Τίτλος και Κατακόρυφο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smtClean="0"/>
              <a:t>Στυλ κύριου τίτλου</a:t>
            </a:r>
            <a:endParaRPr lang="el-GR"/>
          </a:p>
        </p:txBody>
      </p:sp>
      <p:sp>
        <p:nvSpPr>
          <p:cNvPr id="3" name="Θέση κατακόρυφου κειμένου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l-GR" smtClean="0"/>
              <a:t>Στυλ υποδείγματος κειμένου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l-GR"/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98249-7372-42C7-B177-5B4F7B050731}" type="datetime1">
              <a:rPr lang="el-GR" smtClean="0"/>
              <a:t>06/11/2021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ECE321 Concurrent Programming 2021-2022</a:t>
            </a:r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6C5DC-FA73-4DC1-B7FD-3CFA1F3B661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0836315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Κατακόρυφος τίτλος και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Κατακόρυφος τίτλος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l-GR" smtClean="0"/>
              <a:t>Στυλ κύριου τίτλου</a:t>
            </a:r>
            <a:endParaRPr lang="el-GR"/>
          </a:p>
        </p:txBody>
      </p:sp>
      <p:sp>
        <p:nvSpPr>
          <p:cNvPr id="3" name="Θέση κατακόρυφου κειμένου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l-GR" smtClean="0"/>
              <a:t>Στυλ υποδείγματος κειμένου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l-GR"/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DDA62-E08B-49AC-BE9B-042B458506FD}" type="datetime1">
              <a:rPr lang="el-GR" smtClean="0"/>
              <a:t>06/11/2021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ECE321 Concurrent Programming 2021-2022</a:t>
            </a:r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6C5DC-FA73-4DC1-B7FD-3CFA1F3B661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013697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τίτλου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l-GR" smtClean="0"/>
              <a:t>Στυλ κύριου τίτλου</a:t>
            </a:r>
            <a:endParaRPr lang="el-GR"/>
          </a:p>
        </p:txBody>
      </p:sp>
      <p:sp>
        <p:nvSpPr>
          <p:cNvPr id="3" name="Θέση κειμένου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l-GR" smtClean="0"/>
              <a:t>Στυλ υποδείγματος κειμένου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l-GR"/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5DD8AF-4072-45F5-8FAB-F082D1787B4C}" type="datetime1">
              <a:rPr lang="el-GR" smtClean="0"/>
              <a:t>06/11/2021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ECE321 Concurrent Programming 2021-2022</a:t>
            </a:r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D6C5DC-FA73-4DC1-B7FD-3CFA1F3B661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609923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l-G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ctrTitle"/>
          </p:nvPr>
        </p:nvSpPr>
        <p:spPr>
          <a:xfrm>
            <a:off x="951344" y="190588"/>
            <a:ext cx="10289309" cy="835746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Distributed primes calculation</a:t>
            </a:r>
            <a:endParaRPr lang="el-GR" dirty="0"/>
          </a:p>
        </p:txBody>
      </p:sp>
      <p:sp>
        <p:nvSpPr>
          <p:cNvPr id="3" name="Υπότιτλος 2"/>
          <p:cNvSpPr>
            <a:spLocks noGrp="1"/>
          </p:cNvSpPr>
          <p:nvPr>
            <p:ph type="subTitle" idx="1"/>
          </p:nvPr>
        </p:nvSpPr>
        <p:spPr>
          <a:xfrm>
            <a:off x="1523999" y="1117600"/>
            <a:ext cx="9144000" cy="692727"/>
          </a:xfrm>
        </p:spPr>
        <p:txBody>
          <a:bodyPr/>
          <a:lstStyle/>
          <a:p>
            <a:r>
              <a:rPr lang="en-US" sz="1800" dirty="0" err="1" smtClean="0"/>
              <a:t>Evangelos</a:t>
            </a:r>
            <a:r>
              <a:rPr lang="en-US" sz="1800" dirty="0" smtClean="0"/>
              <a:t> </a:t>
            </a:r>
            <a:r>
              <a:rPr lang="en-US" sz="1800" dirty="0" err="1" smtClean="0"/>
              <a:t>Zampras</a:t>
            </a:r>
            <a:r>
              <a:rPr lang="en-US" sz="1800" dirty="0"/>
              <a:t> </a:t>
            </a:r>
            <a:r>
              <a:rPr lang="en-US" sz="1800" dirty="0" smtClean="0"/>
              <a:t>| </a:t>
            </a:r>
            <a:r>
              <a:rPr lang="en-US" sz="1800" dirty="0" err="1" smtClean="0"/>
              <a:t>Evangelos</a:t>
            </a:r>
            <a:r>
              <a:rPr lang="en-US" sz="1800" dirty="0" smtClean="0"/>
              <a:t> </a:t>
            </a:r>
            <a:r>
              <a:rPr lang="en-US" sz="1800" dirty="0" err="1" smtClean="0"/>
              <a:t>Balamotis</a:t>
            </a:r>
            <a:endParaRPr lang="en-US" sz="1800" dirty="0" smtClean="0"/>
          </a:p>
          <a:p>
            <a:r>
              <a:rPr lang="en-US" sz="1600" dirty="0" smtClean="0"/>
              <a:t>ECE, University of Thessaly</a:t>
            </a:r>
            <a:endParaRPr lang="el-GR" sz="1600" dirty="0"/>
          </a:p>
        </p:txBody>
      </p:sp>
      <p:sp>
        <p:nvSpPr>
          <p:cNvPr id="4" name="Θέση υποσέλιδου 3"/>
          <p:cNvSpPr>
            <a:spLocks noGrp="1"/>
          </p:cNvSpPr>
          <p:nvPr>
            <p:ph type="ftr" sz="quarter" idx="11"/>
          </p:nvPr>
        </p:nvSpPr>
        <p:spPr>
          <a:xfrm>
            <a:off x="4038599" y="6356350"/>
            <a:ext cx="4114800" cy="365125"/>
          </a:xfrm>
        </p:spPr>
        <p:txBody>
          <a:bodyPr/>
          <a:lstStyle/>
          <a:p>
            <a:r>
              <a:rPr lang="en-US" dirty="0" smtClean="0"/>
              <a:t>ECE321 Concurrent Programming 2021-2022</a:t>
            </a:r>
            <a:endParaRPr lang="el-GR" dirty="0"/>
          </a:p>
        </p:txBody>
      </p:sp>
      <p:grpSp>
        <p:nvGrpSpPr>
          <p:cNvPr id="34" name="Ομάδα 33"/>
          <p:cNvGrpSpPr/>
          <p:nvPr/>
        </p:nvGrpSpPr>
        <p:grpSpPr>
          <a:xfrm>
            <a:off x="3855454" y="2428484"/>
            <a:ext cx="4755931" cy="2913468"/>
            <a:chOff x="3718032" y="2030598"/>
            <a:chExt cx="4755931" cy="2913468"/>
          </a:xfrm>
        </p:grpSpPr>
        <p:sp>
          <p:nvSpPr>
            <p:cNvPr id="7" name="Στρογγυλεμένο ορθογώνιο 6"/>
            <p:cNvSpPr/>
            <p:nvPr/>
          </p:nvSpPr>
          <p:spPr>
            <a:xfrm>
              <a:off x="5410725" y="2030598"/>
              <a:ext cx="1122505" cy="1122505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</a:rPr>
                <a:t>Main</a:t>
              </a:r>
              <a:endParaRPr lang="el-GR" dirty="0">
                <a:solidFill>
                  <a:schemeClr val="tx1"/>
                </a:solidFill>
              </a:endParaRPr>
            </a:p>
          </p:txBody>
        </p:sp>
        <p:grpSp>
          <p:nvGrpSpPr>
            <p:cNvPr id="10" name="Ομάδα 9"/>
            <p:cNvGrpSpPr/>
            <p:nvPr/>
          </p:nvGrpSpPr>
          <p:grpSpPr>
            <a:xfrm>
              <a:off x="3718032" y="3992880"/>
              <a:ext cx="4755931" cy="951186"/>
              <a:chOff x="3173074" y="3835225"/>
              <a:chExt cx="4755931" cy="951186"/>
            </a:xfrm>
          </p:grpSpPr>
          <p:sp>
            <p:nvSpPr>
              <p:cNvPr id="12" name="Στρογγυλεμένο ορθογώνιο 11"/>
              <p:cNvSpPr/>
              <p:nvPr/>
            </p:nvSpPr>
            <p:spPr>
              <a:xfrm>
                <a:off x="3173074" y="3835225"/>
                <a:ext cx="951186" cy="951186"/>
              </a:xfrm>
              <a:prstGeom prst="roundRect">
                <a:avLst>
                  <a:gd name="adj" fmla="val 4869"/>
                </a:avLst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 smtClean="0">
                    <a:solidFill>
                      <a:schemeClr val="tx1"/>
                    </a:solidFill>
                  </a:rPr>
                  <a:t>Worker 1</a:t>
                </a:r>
                <a:endParaRPr lang="el-GR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" name="Στρογγυλεμένο ορθογώνιο 14"/>
              <p:cNvSpPr/>
              <p:nvPr/>
            </p:nvSpPr>
            <p:spPr>
              <a:xfrm>
                <a:off x="4391223" y="3835225"/>
                <a:ext cx="951186" cy="951186"/>
              </a:xfrm>
              <a:prstGeom prst="roundRect">
                <a:avLst>
                  <a:gd name="adj" fmla="val 4869"/>
                </a:avLst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 smtClean="0">
                    <a:solidFill>
                      <a:schemeClr val="tx1"/>
                    </a:solidFill>
                  </a:rPr>
                  <a:t>Worker 2</a:t>
                </a:r>
                <a:endParaRPr lang="el-GR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Στρογγυλεμένο ορθογώνιο 15"/>
              <p:cNvSpPr/>
              <p:nvPr/>
            </p:nvSpPr>
            <p:spPr>
              <a:xfrm>
                <a:off x="6977819" y="3835225"/>
                <a:ext cx="951186" cy="951186"/>
              </a:xfrm>
              <a:prstGeom prst="roundRect">
                <a:avLst>
                  <a:gd name="adj" fmla="val 4869"/>
                </a:avLst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 smtClean="0">
                    <a:solidFill>
                      <a:schemeClr val="tx1"/>
                    </a:solidFill>
                  </a:rPr>
                  <a:t>Worker N</a:t>
                </a:r>
                <a:endParaRPr lang="el-GR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Υπότιτλος 2"/>
              <p:cNvSpPr txBox="1">
                <a:spLocks/>
              </p:cNvSpPr>
              <p:nvPr/>
            </p:nvSpPr>
            <p:spPr>
              <a:xfrm>
                <a:off x="5710271" y="3960337"/>
                <a:ext cx="917553" cy="64319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3200" dirty="0" smtClean="0"/>
                  <a:t>…</a:t>
                </a:r>
                <a:endParaRPr lang="el-GR" sz="3200" dirty="0"/>
              </a:p>
            </p:txBody>
          </p:sp>
        </p:grpSp>
        <p:cxnSp>
          <p:nvCxnSpPr>
            <p:cNvPr id="18" name="Ευθύγραμμο βέλος σύνδεσης 17"/>
            <p:cNvCxnSpPr>
              <a:stCxn id="7" idx="2"/>
              <a:endCxn id="12" idx="0"/>
            </p:cNvCxnSpPr>
            <p:nvPr/>
          </p:nvCxnSpPr>
          <p:spPr>
            <a:xfrm flipH="1">
              <a:off x="4193625" y="3153103"/>
              <a:ext cx="1778353" cy="83977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Ευθύγραμμο βέλος σύνδεσης 18"/>
            <p:cNvCxnSpPr>
              <a:stCxn id="7" idx="2"/>
              <a:endCxn id="15" idx="0"/>
            </p:cNvCxnSpPr>
            <p:nvPr/>
          </p:nvCxnSpPr>
          <p:spPr>
            <a:xfrm flipH="1">
              <a:off x="5411774" y="3153103"/>
              <a:ext cx="560204" cy="83977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Ευθύγραμμο βέλος σύνδεσης 23"/>
            <p:cNvCxnSpPr>
              <a:stCxn id="7" idx="2"/>
              <a:endCxn id="16" idx="0"/>
            </p:cNvCxnSpPr>
            <p:nvPr/>
          </p:nvCxnSpPr>
          <p:spPr>
            <a:xfrm>
              <a:off x="5971978" y="3153103"/>
              <a:ext cx="2026392" cy="83977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Ευθύγραμμο βέλος σύνδεσης 26"/>
            <p:cNvCxnSpPr>
              <a:stCxn id="7" idx="2"/>
            </p:cNvCxnSpPr>
            <p:nvPr/>
          </p:nvCxnSpPr>
          <p:spPr>
            <a:xfrm>
              <a:off x="5971978" y="3153103"/>
              <a:ext cx="390982" cy="83977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Ευθύγραμμο βέλος σύνδεσης 29"/>
            <p:cNvCxnSpPr>
              <a:stCxn id="7" idx="2"/>
            </p:cNvCxnSpPr>
            <p:nvPr/>
          </p:nvCxnSpPr>
          <p:spPr>
            <a:xfrm>
              <a:off x="5971978" y="3153103"/>
              <a:ext cx="997428" cy="83977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13250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ctrTitle"/>
          </p:nvPr>
        </p:nvSpPr>
        <p:spPr>
          <a:xfrm>
            <a:off x="951344" y="190588"/>
            <a:ext cx="10289309" cy="835746"/>
          </a:xfrm>
        </p:spPr>
        <p:txBody>
          <a:bodyPr>
            <a:normAutofit fontScale="90000"/>
          </a:bodyPr>
          <a:lstStyle/>
          <a:p>
            <a:r>
              <a:rPr lang="el-GR" dirty="0" smtClean="0"/>
              <a:t>Υλοποίηση </a:t>
            </a:r>
            <a:r>
              <a:rPr lang="en-US" dirty="0" smtClean="0"/>
              <a:t>multithreading</a:t>
            </a:r>
            <a:endParaRPr lang="el-GR" dirty="0"/>
          </a:p>
        </p:txBody>
      </p:sp>
      <p:sp>
        <p:nvSpPr>
          <p:cNvPr id="3" name="Υπότιτλος 2"/>
          <p:cNvSpPr>
            <a:spLocks noGrp="1"/>
          </p:cNvSpPr>
          <p:nvPr>
            <p:ph type="subTitle" idx="1"/>
          </p:nvPr>
        </p:nvSpPr>
        <p:spPr>
          <a:xfrm>
            <a:off x="1523998" y="1571646"/>
            <a:ext cx="9144000" cy="3050803"/>
          </a:xfrm>
        </p:spPr>
        <p:txBody>
          <a:bodyPr>
            <a:normAutofit/>
          </a:bodyPr>
          <a:lstStyle/>
          <a:p>
            <a:pPr algn="l"/>
            <a:r>
              <a:rPr lang="el-GR" sz="1800" dirty="0" smtClean="0"/>
              <a:t>Το πρόγραμμα λαμβάνει ως όρισμα τον αριθμό των </a:t>
            </a:r>
            <a:r>
              <a:rPr lang="en-US" sz="1800" dirty="0" smtClean="0"/>
              <a:t>threads</a:t>
            </a:r>
            <a:r>
              <a:rPr lang="el-GR" sz="1800" dirty="0" smtClean="0"/>
              <a:t>, δημιουργεί τα </a:t>
            </a:r>
            <a:r>
              <a:rPr lang="en-US" sz="1800" dirty="0" smtClean="0"/>
              <a:t>threads </a:t>
            </a:r>
            <a:r>
              <a:rPr lang="el-GR" sz="1800" dirty="0" smtClean="0"/>
              <a:t>και στη συνέχεια λαμβάνει ως είσοδο ακέραιους, για καθέναν από τους οποίους υπολογίζει αν είναι </a:t>
            </a:r>
            <a:r>
              <a:rPr lang="en-US" sz="1800" dirty="0" smtClean="0"/>
              <a:t>prime </a:t>
            </a:r>
            <a:r>
              <a:rPr lang="el-GR" sz="1800" dirty="0" smtClean="0"/>
              <a:t>και εκτυπώνει </a:t>
            </a:r>
            <a:r>
              <a:rPr lang="en-US" sz="1800" dirty="0" smtClean="0"/>
              <a:t>&lt;number&gt;:&lt;</a:t>
            </a:r>
            <a:r>
              <a:rPr lang="en-US" sz="1800" dirty="0" err="1" smtClean="0"/>
              <a:t>is_prime</a:t>
            </a:r>
            <a:r>
              <a:rPr lang="en-US" sz="1800" dirty="0" smtClean="0"/>
              <a:t>&gt; </a:t>
            </a:r>
            <a:r>
              <a:rPr lang="el-GR" sz="1800" dirty="0" smtClean="0"/>
              <a:t>όπου</a:t>
            </a:r>
            <a:r>
              <a:rPr lang="en-US" sz="1800" dirty="0" smtClean="0"/>
              <a:t> &lt;number&gt; </a:t>
            </a:r>
            <a:r>
              <a:rPr lang="el-GR" sz="1800" dirty="0" smtClean="0"/>
              <a:t>η τιμή εισόδου και </a:t>
            </a:r>
            <a:r>
              <a:rPr lang="en-US" sz="1800" dirty="0" smtClean="0"/>
              <a:t>&lt;</a:t>
            </a:r>
            <a:r>
              <a:rPr lang="en-US" sz="1800" dirty="0" err="1" smtClean="0"/>
              <a:t>is_prime</a:t>
            </a:r>
            <a:r>
              <a:rPr lang="en-US" sz="1800" dirty="0" smtClean="0"/>
              <a:t>&gt;</a:t>
            </a:r>
            <a:r>
              <a:rPr lang="el-GR" sz="1800" dirty="0" smtClean="0"/>
              <a:t> μια τιμή (1 ή 0) που υποδεικνύει αν η τιμή εισόδου είναι </a:t>
            </a:r>
            <a:r>
              <a:rPr lang="en-US" sz="1800" dirty="0" smtClean="0"/>
              <a:t>prime </a:t>
            </a:r>
            <a:r>
              <a:rPr lang="el-GR" sz="1800" dirty="0" smtClean="0"/>
              <a:t>ή όχι.</a:t>
            </a:r>
          </a:p>
          <a:p>
            <a:pPr algn="l"/>
            <a:endParaRPr lang="en-US" sz="1400" dirty="0" smtClean="0"/>
          </a:p>
          <a:p>
            <a:pPr algn="l"/>
            <a:r>
              <a:rPr lang="el-GR" sz="1800" dirty="0" smtClean="0"/>
              <a:t>Το πρόγραμμα σταματά την ανάγνωση όταν </a:t>
            </a:r>
            <a:r>
              <a:rPr lang="el-GR" sz="1800" dirty="0" smtClean="0"/>
              <a:t>ανιχνεύεται </a:t>
            </a:r>
            <a:r>
              <a:rPr lang="en-US" sz="1800" b="1" dirty="0" smtClean="0">
                <a:solidFill>
                  <a:schemeClr val="accent1">
                    <a:lumMod val="75000"/>
                  </a:schemeClr>
                </a:solidFill>
              </a:rPr>
              <a:t>EOF</a:t>
            </a:r>
            <a:r>
              <a:rPr lang="en-US" sz="1800" dirty="0" smtClean="0"/>
              <a:t>.</a:t>
            </a:r>
            <a:endParaRPr lang="en-US" sz="1800" dirty="0" smtClean="0"/>
          </a:p>
        </p:txBody>
      </p:sp>
      <p:sp>
        <p:nvSpPr>
          <p:cNvPr id="4" name="Θέση υποσέλιδου 3"/>
          <p:cNvSpPr>
            <a:spLocks noGrp="1"/>
          </p:cNvSpPr>
          <p:nvPr>
            <p:ph type="ftr" sz="quarter" idx="11"/>
          </p:nvPr>
        </p:nvSpPr>
        <p:spPr>
          <a:xfrm>
            <a:off x="4038599" y="6356350"/>
            <a:ext cx="4114800" cy="365125"/>
          </a:xfrm>
        </p:spPr>
        <p:txBody>
          <a:bodyPr/>
          <a:lstStyle/>
          <a:p>
            <a:r>
              <a:rPr lang="en-US" dirty="0" smtClean="0"/>
              <a:t>ECE321 Concurrent Programming 2021-2022</a:t>
            </a:r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15188925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ctrTitle"/>
          </p:nvPr>
        </p:nvSpPr>
        <p:spPr>
          <a:xfrm>
            <a:off x="951344" y="190588"/>
            <a:ext cx="10289309" cy="835746"/>
          </a:xfrm>
        </p:spPr>
        <p:txBody>
          <a:bodyPr>
            <a:normAutofit fontScale="90000"/>
          </a:bodyPr>
          <a:lstStyle/>
          <a:p>
            <a:r>
              <a:rPr lang="el-GR" dirty="0" smtClean="0"/>
              <a:t>Υλοποίηση </a:t>
            </a:r>
            <a:r>
              <a:rPr lang="en-US" dirty="0" smtClean="0"/>
              <a:t>multithreading</a:t>
            </a:r>
            <a:endParaRPr lang="el-GR" dirty="0"/>
          </a:p>
        </p:txBody>
      </p:sp>
      <p:sp>
        <p:nvSpPr>
          <p:cNvPr id="4" name="Θέση υποσέλιδου 3"/>
          <p:cNvSpPr>
            <a:spLocks noGrp="1"/>
          </p:cNvSpPr>
          <p:nvPr>
            <p:ph type="ftr" sz="quarter" idx="11"/>
          </p:nvPr>
        </p:nvSpPr>
        <p:spPr>
          <a:xfrm>
            <a:off x="4038599" y="6356350"/>
            <a:ext cx="4114800" cy="365125"/>
          </a:xfrm>
        </p:spPr>
        <p:txBody>
          <a:bodyPr/>
          <a:lstStyle/>
          <a:p>
            <a:r>
              <a:rPr lang="en-US" dirty="0" smtClean="0"/>
              <a:t>ECE321 Concurrent Programming 2021-2022</a:t>
            </a:r>
            <a:endParaRPr lang="el-GR" dirty="0"/>
          </a:p>
        </p:txBody>
      </p:sp>
      <p:sp>
        <p:nvSpPr>
          <p:cNvPr id="20" name="Υπότιτλος 2"/>
          <p:cNvSpPr txBox="1">
            <a:spLocks/>
          </p:cNvSpPr>
          <p:nvPr/>
        </p:nvSpPr>
        <p:spPr>
          <a:xfrm>
            <a:off x="1523998" y="1605279"/>
            <a:ext cx="9144000" cy="395154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dirty="0"/>
              <a:t>H </a:t>
            </a:r>
            <a:r>
              <a:rPr lang="el-GR" sz="1600" dirty="0"/>
              <a:t>υλοποίηση του </a:t>
            </a:r>
            <a:r>
              <a:rPr lang="en-US" sz="1600" dirty="0"/>
              <a:t>multithreading </a:t>
            </a:r>
            <a:r>
              <a:rPr lang="el-GR" sz="1600" dirty="0"/>
              <a:t>για επιτάχυνση των υπολογισμών γίνεται ως εξής</a:t>
            </a:r>
            <a:r>
              <a:rPr lang="el-GR" sz="1600" dirty="0" smtClean="0"/>
              <a:t>:</a:t>
            </a:r>
          </a:p>
          <a:p>
            <a:pPr marL="342900" indent="-342900" algn="l">
              <a:buAutoNum type="arabicPeriod"/>
            </a:pPr>
            <a:r>
              <a:rPr lang="en-US" sz="1600" dirty="0" smtClean="0"/>
              <a:t>H main </a:t>
            </a:r>
            <a:r>
              <a:rPr lang="el-GR" sz="1600" dirty="0" smtClean="0"/>
              <a:t>διαβάζει μια τιμή εισόδου</a:t>
            </a:r>
          </a:p>
          <a:p>
            <a:pPr marL="342900" indent="-342900" algn="l">
              <a:buAutoNum type="arabicPeriod"/>
            </a:pPr>
            <a:r>
              <a:rPr lang="el-GR" sz="1600" dirty="0" smtClean="0"/>
              <a:t>Ελέγχει τα </a:t>
            </a:r>
            <a:r>
              <a:rPr lang="en-US" sz="1600" dirty="0" smtClean="0"/>
              <a:t>worker threads, </a:t>
            </a:r>
            <a:r>
              <a:rPr lang="el-GR" sz="1600" dirty="0" smtClean="0"/>
              <a:t>και ανιχνεύει ποιο από αυτά περιμένει να λάβει καινούριο </a:t>
            </a:r>
            <a:r>
              <a:rPr lang="en-US" sz="1600" dirty="0" smtClean="0"/>
              <a:t>workload. (i.e. </a:t>
            </a:r>
            <a:r>
              <a:rPr lang="el-GR" sz="1600" dirty="0" smtClean="0"/>
              <a:t>(έχει κατάσταση </a:t>
            </a:r>
            <a:r>
              <a:rPr lang="en-US" sz="1600" dirty="0" smtClean="0"/>
              <a:t>waiting)</a:t>
            </a:r>
            <a:endParaRPr lang="el-GR" sz="1600" dirty="0" smtClean="0"/>
          </a:p>
          <a:p>
            <a:pPr marL="342900" indent="-342900" algn="l">
              <a:buAutoNum type="arabicPeriod"/>
            </a:pPr>
            <a:r>
              <a:rPr lang="el-GR" sz="1600" dirty="0" smtClean="0"/>
              <a:t>Δίνει την τιμή στο </a:t>
            </a:r>
            <a:r>
              <a:rPr lang="en-US" sz="1600" dirty="0" smtClean="0"/>
              <a:t>worker, </a:t>
            </a:r>
            <a:r>
              <a:rPr lang="el-GR" sz="1600" dirty="0" smtClean="0"/>
              <a:t>και θέτει την κατάστασή του σε </a:t>
            </a:r>
            <a:r>
              <a:rPr lang="en-US" sz="1600" dirty="0" smtClean="0"/>
              <a:t>not-waiting </a:t>
            </a:r>
            <a:r>
              <a:rPr lang="el-GR" sz="1600" dirty="0" smtClean="0"/>
              <a:t>ώστε εκείνο να αρχίσει να επεξεργάζεται την τιμή</a:t>
            </a:r>
          </a:p>
          <a:p>
            <a:pPr marL="342900" indent="-342900" algn="l">
              <a:buAutoNum type="arabicPeriod"/>
            </a:pPr>
            <a:r>
              <a:rPr lang="el-GR" sz="1600" dirty="0" smtClean="0"/>
              <a:t>Όταν το </a:t>
            </a:r>
            <a:r>
              <a:rPr lang="en-US" sz="1600" dirty="0" smtClean="0"/>
              <a:t>thread </a:t>
            </a:r>
            <a:r>
              <a:rPr lang="el-GR" sz="1600" dirty="0" smtClean="0"/>
              <a:t>ολοκληρώσει τους υπολογισμούς, εκτυπώνει το αποτέλεσμα (μόνο ένα </a:t>
            </a:r>
            <a:r>
              <a:rPr lang="en-US" sz="1600" dirty="0" smtClean="0"/>
              <a:t>thread </a:t>
            </a:r>
            <a:r>
              <a:rPr lang="el-GR" sz="1600" dirty="0" smtClean="0"/>
              <a:t>επεξεργάζεται μία τιμή κάθε φορά, οπότε δεν υπάρχει</a:t>
            </a:r>
            <a:r>
              <a:rPr lang="en-US" sz="1600" dirty="0" smtClean="0"/>
              <a:t> ambiguity </a:t>
            </a:r>
            <a:r>
              <a:rPr lang="el-GR" sz="1600" dirty="0" smtClean="0"/>
              <a:t>ή </a:t>
            </a:r>
            <a:r>
              <a:rPr lang="en-US" sz="1600" dirty="0" smtClean="0"/>
              <a:t>race conditions </a:t>
            </a:r>
            <a:r>
              <a:rPr lang="el-GR" sz="1600" dirty="0" smtClean="0"/>
              <a:t>ως προς το αποτέλεσμα που υπολογίζεται — δηλαδή μόνο το εκάστοτε </a:t>
            </a:r>
            <a:r>
              <a:rPr lang="en-US" sz="1600" dirty="0" smtClean="0"/>
              <a:t>thread </a:t>
            </a:r>
            <a:r>
              <a:rPr lang="el-GR" sz="1600" dirty="0" smtClean="0"/>
              <a:t>έχει πρόσβαση στις μεταβλητές υπολογισμού του.</a:t>
            </a:r>
          </a:p>
          <a:p>
            <a:pPr marL="342900" indent="-342900" algn="l">
              <a:buAutoNum type="arabicPeriod"/>
            </a:pPr>
            <a:r>
              <a:rPr lang="el-GR" sz="1600" dirty="0" smtClean="0"/>
              <a:t>Επανάληψη των 1-4 έως να τελειώσουν οι τιμές εισόδου</a:t>
            </a:r>
          </a:p>
          <a:p>
            <a:pPr marL="342900" indent="-342900" algn="l">
              <a:buAutoNum type="arabicPeriod"/>
            </a:pPr>
            <a:r>
              <a:rPr lang="el-GR" sz="1600" dirty="0" smtClean="0"/>
              <a:t>Η </a:t>
            </a:r>
            <a:r>
              <a:rPr lang="en-US" sz="1600" dirty="0" smtClean="0"/>
              <a:t>main </a:t>
            </a:r>
            <a:r>
              <a:rPr lang="el-GR" sz="1600" dirty="0" smtClean="0"/>
              <a:t>περιμένει να ολοκληρώσουν όλα τα </a:t>
            </a:r>
            <a:r>
              <a:rPr lang="en-US" sz="1600" dirty="0" smtClean="0"/>
              <a:t>threads </a:t>
            </a:r>
            <a:r>
              <a:rPr lang="el-GR" sz="1600" dirty="0" smtClean="0"/>
              <a:t>που υπολογίζουν ακόμη, και όταν γίνει αυτό σηματοδοτεί μέσω μιας «προσωπικής» </a:t>
            </a:r>
            <a:r>
              <a:rPr lang="el-GR" sz="1600" dirty="0"/>
              <a:t>μεταβλητής στο κάθε </a:t>
            </a:r>
            <a:r>
              <a:rPr lang="en-US" sz="1600" dirty="0"/>
              <a:t>thread </a:t>
            </a:r>
            <a:r>
              <a:rPr lang="el-GR" sz="1600" dirty="0" smtClean="0"/>
              <a:t>ότι </a:t>
            </a:r>
            <a:r>
              <a:rPr lang="el-GR" sz="1600" dirty="0" smtClean="0"/>
              <a:t>πρέπει να τερματίσει.</a:t>
            </a:r>
          </a:p>
          <a:p>
            <a:pPr marL="342900" indent="-342900" algn="l">
              <a:buAutoNum type="arabicPeriod"/>
            </a:pPr>
            <a:r>
              <a:rPr lang="el-GR" sz="1600" dirty="0" smtClean="0"/>
              <a:t>Η </a:t>
            </a:r>
            <a:r>
              <a:rPr lang="en-US" sz="1600" dirty="0" smtClean="0"/>
              <a:t>main </a:t>
            </a:r>
            <a:r>
              <a:rPr lang="el-GR" sz="1600" dirty="0" smtClean="0"/>
              <a:t>εξέρχεται της ρουτίνας της.</a:t>
            </a:r>
          </a:p>
          <a:p>
            <a:pPr marL="342900" indent="-342900" algn="l">
              <a:buAutoNum type="arabicPeriod"/>
            </a:pPr>
            <a:endParaRPr lang="el-GR" sz="1400" dirty="0"/>
          </a:p>
        </p:txBody>
      </p:sp>
    </p:spTree>
    <p:extLst>
      <p:ext uri="{BB962C8B-B14F-4D97-AF65-F5344CB8AC3E}">
        <p14:creationId xmlns:p14="http://schemas.microsoft.com/office/powerpoint/2010/main" val="40949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ctrTitle"/>
          </p:nvPr>
        </p:nvSpPr>
        <p:spPr>
          <a:xfrm>
            <a:off x="951344" y="190588"/>
            <a:ext cx="10289309" cy="835746"/>
          </a:xfrm>
        </p:spPr>
        <p:txBody>
          <a:bodyPr>
            <a:normAutofit fontScale="90000"/>
          </a:bodyPr>
          <a:lstStyle/>
          <a:p>
            <a:r>
              <a:rPr lang="el-GR" dirty="0" smtClean="0"/>
              <a:t>Επικοινωνία </a:t>
            </a:r>
            <a:r>
              <a:rPr lang="en-US" dirty="0" smtClean="0"/>
              <a:t>main-workers</a:t>
            </a:r>
            <a:endParaRPr lang="el-GR" dirty="0"/>
          </a:p>
        </p:txBody>
      </p:sp>
      <p:sp>
        <p:nvSpPr>
          <p:cNvPr id="4" name="Θέση υποσέλιδου 3"/>
          <p:cNvSpPr>
            <a:spLocks noGrp="1"/>
          </p:cNvSpPr>
          <p:nvPr>
            <p:ph type="ftr" sz="quarter" idx="11"/>
          </p:nvPr>
        </p:nvSpPr>
        <p:spPr>
          <a:xfrm>
            <a:off x="4038599" y="6356350"/>
            <a:ext cx="4114800" cy="365125"/>
          </a:xfrm>
        </p:spPr>
        <p:txBody>
          <a:bodyPr/>
          <a:lstStyle/>
          <a:p>
            <a:r>
              <a:rPr lang="en-US" dirty="0" smtClean="0"/>
              <a:t>ECE321 Concurrent Programming 2021-2022</a:t>
            </a:r>
            <a:endParaRPr lang="el-GR" dirty="0"/>
          </a:p>
        </p:txBody>
      </p:sp>
      <p:sp>
        <p:nvSpPr>
          <p:cNvPr id="20" name="Υπότιτλος 2"/>
          <p:cNvSpPr txBox="1">
            <a:spLocks/>
          </p:cNvSpPr>
          <p:nvPr/>
        </p:nvSpPr>
        <p:spPr>
          <a:xfrm>
            <a:off x="1523998" y="1046029"/>
            <a:ext cx="9144000" cy="10065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l-GR" sz="1600" dirty="0" smtClean="0"/>
              <a:t>Υλοποιούμε την επικοινωνία της </a:t>
            </a:r>
            <a:r>
              <a:rPr lang="en-US" sz="1600" dirty="0" smtClean="0"/>
              <a:t>main </a:t>
            </a:r>
            <a:r>
              <a:rPr lang="el-GR" sz="1600" dirty="0" smtClean="0"/>
              <a:t>με τα </a:t>
            </a:r>
            <a:r>
              <a:rPr lang="en-US" sz="1600" dirty="0" smtClean="0"/>
              <a:t>worker threads </a:t>
            </a:r>
            <a:r>
              <a:rPr lang="el-GR" sz="1600" dirty="0" smtClean="0"/>
              <a:t>έχοντας ένα </a:t>
            </a:r>
            <a:r>
              <a:rPr lang="en-US" sz="1600" dirty="0" err="1" smtClean="0"/>
              <a:t>struct</a:t>
            </a:r>
            <a:r>
              <a:rPr lang="en-US" sz="1600" dirty="0" smtClean="0"/>
              <a:t> </a:t>
            </a:r>
            <a:r>
              <a:rPr lang="el-GR" sz="1600" dirty="0" smtClean="0"/>
              <a:t>για το κάθε </a:t>
            </a:r>
            <a:r>
              <a:rPr lang="en-US" sz="1600" dirty="0" smtClean="0"/>
              <a:t>thread (</a:t>
            </a:r>
            <a:r>
              <a:rPr lang="en-US" sz="1600" dirty="0" err="1" smtClean="0"/>
              <a:t>worker_props</a:t>
            </a:r>
            <a:r>
              <a:rPr lang="en-US" sz="1600" dirty="0" smtClean="0"/>
              <a:t> : short for “worker properties”), </a:t>
            </a:r>
            <a:r>
              <a:rPr lang="el-GR" sz="1600" dirty="0" smtClean="0"/>
              <a:t>και περνώντας πληροφορίες στο </a:t>
            </a:r>
            <a:r>
              <a:rPr lang="en-US" sz="1600" dirty="0" err="1" smtClean="0"/>
              <a:t>struct</a:t>
            </a:r>
            <a:r>
              <a:rPr lang="en-US" sz="1600" dirty="0" smtClean="0"/>
              <a:t> </a:t>
            </a:r>
            <a:r>
              <a:rPr lang="el-GR" sz="1600" dirty="0" smtClean="0"/>
              <a:t>τις οποίες διαβάζει τόσο το αντίστοιχο </a:t>
            </a:r>
            <a:r>
              <a:rPr lang="en-US" sz="1600" dirty="0" smtClean="0"/>
              <a:t>thread </a:t>
            </a:r>
            <a:r>
              <a:rPr lang="el-GR" sz="1600" dirty="0" smtClean="0"/>
              <a:t>όσο και η </a:t>
            </a:r>
            <a:r>
              <a:rPr lang="en-US" sz="1600" dirty="0" smtClean="0"/>
              <a:t>main. </a:t>
            </a:r>
            <a:r>
              <a:rPr lang="el-GR" sz="1600" dirty="0" smtClean="0"/>
              <a:t>Δηλαδή, κοινές μεταβλητές που είναι </a:t>
            </a:r>
            <a:r>
              <a:rPr lang="en-US" sz="1600" dirty="0" smtClean="0"/>
              <a:t>“encapsulated” </a:t>
            </a:r>
            <a:r>
              <a:rPr lang="el-GR" sz="1600" dirty="0" smtClean="0"/>
              <a:t>σε ένα </a:t>
            </a:r>
            <a:r>
              <a:rPr lang="en-US" sz="1600" dirty="0" err="1" smtClean="0"/>
              <a:t>struct</a:t>
            </a:r>
            <a:r>
              <a:rPr lang="en-US" sz="1600" dirty="0"/>
              <a:t> </a:t>
            </a:r>
            <a:r>
              <a:rPr lang="el-GR" sz="1600" dirty="0" smtClean="0"/>
              <a:t>για επικοινωνία μεταξύ </a:t>
            </a:r>
            <a:r>
              <a:rPr lang="en-US" sz="1600" dirty="0" smtClean="0"/>
              <a:t>threads.</a:t>
            </a:r>
            <a:endParaRPr lang="el-GR" sz="1600" dirty="0" smtClean="0"/>
          </a:p>
          <a:p>
            <a:pPr marL="342900" indent="-342900" algn="l">
              <a:buAutoNum type="arabicPeriod"/>
            </a:pPr>
            <a:endParaRPr lang="el-GR" sz="1400" dirty="0"/>
          </a:p>
        </p:txBody>
      </p:sp>
      <p:grpSp>
        <p:nvGrpSpPr>
          <p:cNvPr id="40" name="Ομάδα 39"/>
          <p:cNvGrpSpPr/>
          <p:nvPr/>
        </p:nvGrpSpPr>
        <p:grpSpPr>
          <a:xfrm>
            <a:off x="2198507" y="2144837"/>
            <a:ext cx="7794981" cy="3562647"/>
            <a:chOff x="2068436" y="2573931"/>
            <a:chExt cx="6939453" cy="2942949"/>
          </a:xfrm>
        </p:grpSpPr>
        <p:sp>
          <p:nvSpPr>
            <p:cNvPr id="3" name="Ορθογώνιο 2"/>
            <p:cNvSpPr/>
            <p:nvPr/>
          </p:nvSpPr>
          <p:spPr>
            <a:xfrm>
              <a:off x="2068436" y="3108961"/>
              <a:ext cx="1526102" cy="227654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</a:rPr>
                <a:t>main</a:t>
              </a:r>
              <a:endParaRPr lang="el-GR" dirty="0">
                <a:solidFill>
                  <a:schemeClr val="tx1"/>
                </a:solidFill>
              </a:endParaRPr>
            </a:p>
          </p:txBody>
        </p:sp>
        <p:sp>
          <p:nvSpPr>
            <p:cNvPr id="9" name="Ορθογώνιο 8"/>
            <p:cNvSpPr/>
            <p:nvPr/>
          </p:nvSpPr>
          <p:spPr>
            <a:xfrm>
              <a:off x="7481787" y="3108961"/>
              <a:ext cx="1526102" cy="72521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</a:rPr>
                <a:t>thread 1</a:t>
              </a:r>
              <a:endParaRPr lang="el-GR" dirty="0">
                <a:solidFill>
                  <a:schemeClr val="tx1"/>
                </a:solidFill>
              </a:endParaRPr>
            </a:p>
          </p:txBody>
        </p:sp>
        <p:sp>
          <p:nvSpPr>
            <p:cNvPr id="10" name="Ορθογώνιο 9"/>
            <p:cNvSpPr/>
            <p:nvPr/>
          </p:nvSpPr>
          <p:spPr>
            <a:xfrm>
              <a:off x="7481787" y="3884624"/>
              <a:ext cx="1526102" cy="72521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</a:rPr>
                <a:t>thread 2</a:t>
              </a:r>
              <a:endParaRPr lang="el-GR" dirty="0">
                <a:solidFill>
                  <a:schemeClr val="tx1"/>
                </a:solidFill>
              </a:endParaRPr>
            </a:p>
          </p:txBody>
        </p:sp>
        <p:sp>
          <p:nvSpPr>
            <p:cNvPr id="11" name="Ορθογώνιο 10"/>
            <p:cNvSpPr/>
            <p:nvPr/>
          </p:nvSpPr>
          <p:spPr>
            <a:xfrm>
              <a:off x="7481787" y="4660288"/>
              <a:ext cx="1526102" cy="72521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thread </a:t>
              </a:r>
              <a:r>
                <a:rPr lang="en-US" dirty="0" smtClean="0">
                  <a:solidFill>
                    <a:schemeClr val="tx1"/>
                  </a:solidFill>
                </a:rPr>
                <a:t>3</a:t>
              </a:r>
              <a:endParaRPr lang="el-GR" dirty="0">
                <a:solidFill>
                  <a:schemeClr val="tx1"/>
                </a:solidFill>
              </a:endParaRPr>
            </a:p>
          </p:txBody>
        </p:sp>
        <p:grpSp>
          <p:nvGrpSpPr>
            <p:cNvPr id="26" name="Ομάδα 25"/>
            <p:cNvGrpSpPr/>
            <p:nvPr/>
          </p:nvGrpSpPr>
          <p:grpSpPr>
            <a:xfrm>
              <a:off x="4206108" y="3212078"/>
              <a:ext cx="2604464" cy="509080"/>
              <a:chOff x="4281914" y="3242831"/>
              <a:chExt cx="2604464" cy="509080"/>
            </a:xfrm>
          </p:grpSpPr>
          <p:cxnSp>
            <p:nvCxnSpPr>
              <p:cNvPr id="6" name="Ευθύγραμμο βέλος σύνδεσης 5"/>
              <p:cNvCxnSpPr/>
              <p:nvPr/>
            </p:nvCxnSpPr>
            <p:spPr>
              <a:xfrm>
                <a:off x="4281914" y="3462108"/>
                <a:ext cx="260446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" name="Υπότιτλος 2"/>
              <p:cNvSpPr txBox="1">
                <a:spLocks/>
              </p:cNvSpPr>
              <p:nvPr/>
            </p:nvSpPr>
            <p:spPr>
              <a:xfrm>
                <a:off x="5091383" y="3242831"/>
                <a:ext cx="985522" cy="21927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000" dirty="0"/>
                  <a:t>d</a:t>
                </a:r>
                <a:r>
                  <a:rPr lang="en-US" sz="1000" dirty="0" smtClean="0"/>
                  <a:t>o this work</a:t>
                </a:r>
                <a:endParaRPr lang="el-GR" sz="1000" dirty="0"/>
              </a:p>
            </p:txBody>
          </p:sp>
          <p:sp>
            <p:nvSpPr>
              <p:cNvPr id="15" name="Υπότιτλος 2"/>
              <p:cNvSpPr txBox="1">
                <a:spLocks/>
              </p:cNvSpPr>
              <p:nvPr/>
            </p:nvSpPr>
            <p:spPr>
              <a:xfrm>
                <a:off x="4999420" y="3548510"/>
                <a:ext cx="1214385" cy="20340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800" dirty="0" smtClean="0"/>
                  <a:t>calculating…</a:t>
                </a:r>
                <a:endParaRPr lang="el-GR" sz="800" dirty="0"/>
              </a:p>
            </p:txBody>
          </p:sp>
          <p:cxnSp>
            <p:nvCxnSpPr>
              <p:cNvPr id="16" name="Ευθύγραμμο βέλος σύνδεσης 15"/>
              <p:cNvCxnSpPr/>
              <p:nvPr/>
            </p:nvCxnSpPr>
            <p:spPr>
              <a:xfrm flipH="1" flipV="1">
                <a:off x="4287520" y="3530600"/>
                <a:ext cx="2595880" cy="1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Ομάδα 26"/>
            <p:cNvGrpSpPr/>
            <p:nvPr/>
          </p:nvGrpSpPr>
          <p:grpSpPr>
            <a:xfrm>
              <a:off x="4186620" y="3984456"/>
              <a:ext cx="2604464" cy="519411"/>
              <a:chOff x="4281914" y="3231640"/>
              <a:chExt cx="2604464" cy="519411"/>
            </a:xfrm>
          </p:grpSpPr>
          <p:cxnSp>
            <p:nvCxnSpPr>
              <p:cNvPr id="28" name="Ευθύγραμμο βέλος σύνδεσης 27"/>
              <p:cNvCxnSpPr/>
              <p:nvPr/>
            </p:nvCxnSpPr>
            <p:spPr>
              <a:xfrm>
                <a:off x="4281914" y="3462108"/>
                <a:ext cx="260446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Υπότιτλος 2"/>
              <p:cNvSpPr txBox="1">
                <a:spLocks/>
              </p:cNvSpPr>
              <p:nvPr/>
            </p:nvSpPr>
            <p:spPr>
              <a:xfrm>
                <a:off x="4872114" y="3231640"/>
                <a:ext cx="1463040" cy="21927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000" dirty="0" smtClean="0"/>
                  <a:t>no more work left, finish</a:t>
                </a:r>
                <a:endParaRPr lang="el-GR" sz="1000" dirty="0"/>
              </a:p>
            </p:txBody>
          </p:sp>
          <p:sp>
            <p:nvSpPr>
              <p:cNvPr id="30" name="Υπότιτλος 2"/>
              <p:cNvSpPr txBox="1">
                <a:spLocks/>
              </p:cNvSpPr>
              <p:nvPr/>
            </p:nvSpPr>
            <p:spPr>
              <a:xfrm>
                <a:off x="5323095" y="3547650"/>
                <a:ext cx="561078" cy="20340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800" dirty="0" smtClean="0"/>
                  <a:t>OK</a:t>
                </a:r>
                <a:endParaRPr lang="el-GR" sz="800" dirty="0"/>
              </a:p>
            </p:txBody>
          </p:sp>
          <p:cxnSp>
            <p:nvCxnSpPr>
              <p:cNvPr id="31" name="Ευθύγραμμο βέλος σύνδεσης 30"/>
              <p:cNvCxnSpPr/>
              <p:nvPr/>
            </p:nvCxnSpPr>
            <p:spPr>
              <a:xfrm flipH="1" flipV="1">
                <a:off x="4287520" y="3530600"/>
                <a:ext cx="2595880" cy="1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2" name="Ομάδα 31"/>
            <p:cNvGrpSpPr/>
            <p:nvPr/>
          </p:nvGrpSpPr>
          <p:grpSpPr>
            <a:xfrm>
              <a:off x="4186620" y="4768682"/>
              <a:ext cx="2604464" cy="508424"/>
              <a:chOff x="4281914" y="3243487"/>
              <a:chExt cx="2604464" cy="508424"/>
            </a:xfrm>
          </p:grpSpPr>
          <p:cxnSp>
            <p:nvCxnSpPr>
              <p:cNvPr id="33" name="Ευθύγραμμο βέλος σύνδεσης 32"/>
              <p:cNvCxnSpPr/>
              <p:nvPr/>
            </p:nvCxnSpPr>
            <p:spPr>
              <a:xfrm>
                <a:off x="4281914" y="3462108"/>
                <a:ext cx="260446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" name="Υπότιτλος 2"/>
              <p:cNvSpPr txBox="1">
                <a:spLocks/>
              </p:cNvSpPr>
              <p:nvPr/>
            </p:nvSpPr>
            <p:spPr>
              <a:xfrm>
                <a:off x="5113851" y="3243487"/>
                <a:ext cx="985522" cy="21927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000" dirty="0" smtClean="0"/>
                  <a:t>wait for work</a:t>
                </a:r>
                <a:endParaRPr lang="el-GR" sz="1000" dirty="0"/>
              </a:p>
            </p:txBody>
          </p:sp>
          <p:sp>
            <p:nvSpPr>
              <p:cNvPr id="35" name="Υπότιτλος 2"/>
              <p:cNvSpPr txBox="1">
                <a:spLocks/>
              </p:cNvSpPr>
              <p:nvPr/>
            </p:nvSpPr>
            <p:spPr>
              <a:xfrm>
                <a:off x="4999420" y="3548510"/>
                <a:ext cx="1214385" cy="20340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800" dirty="0" smtClean="0"/>
                  <a:t>waiting for more work…</a:t>
                </a:r>
                <a:endParaRPr lang="el-GR" sz="800" dirty="0"/>
              </a:p>
            </p:txBody>
          </p:sp>
          <p:cxnSp>
            <p:nvCxnSpPr>
              <p:cNvPr id="36" name="Ευθύγραμμο βέλος σύνδεσης 35"/>
              <p:cNvCxnSpPr/>
              <p:nvPr/>
            </p:nvCxnSpPr>
            <p:spPr>
              <a:xfrm flipH="1" flipV="1">
                <a:off x="4287520" y="3530600"/>
                <a:ext cx="2595880" cy="1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8" name="Ορθογώνιο 37"/>
            <p:cNvSpPr/>
            <p:nvPr/>
          </p:nvSpPr>
          <p:spPr>
            <a:xfrm>
              <a:off x="4587240" y="2921000"/>
              <a:ext cx="1823720" cy="2595880"/>
            </a:xfrm>
            <a:prstGeom prst="rect">
              <a:avLst/>
            </a:prstGeom>
            <a:no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l-GR"/>
            </a:p>
          </p:txBody>
        </p:sp>
        <p:sp>
          <p:nvSpPr>
            <p:cNvPr id="39" name="Υπότιτλος 2"/>
            <p:cNvSpPr txBox="1">
              <a:spLocks/>
            </p:cNvSpPr>
            <p:nvPr/>
          </p:nvSpPr>
          <p:spPr>
            <a:xfrm>
              <a:off x="4829544" y="2573931"/>
              <a:ext cx="1357588" cy="284695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b="1" dirty="0" err="1" smtClean="0">
                  <a:solidFill>
                    <a:schemeClr val="accent2">
                      <a:lumMod val="75000"/>
                    </a:schemeClr>
                  </a:solidFill>
                </a:rPr>
                <a:t>worker_jobs</a:t>
              </a:r>
              <a:r>
                <a:rPr lang="en-US" sz="1400" b="1" dirty="0" smtClean="0">
                  <a:solidFill>
                    <a:schemeClr val="accent2">
                      <a:lumMod val="75000"/>
                    </a:schemeClr>
                  </a:solidFill>
                </a:rPr>
                <a:t>[]</a:t>
              </a:r>
              <a:endParaRPr lang="el-GR" sz="1400" b="1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72545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ctrTitle"/>
          </p:nvPr>
        </p:nvSpPr>
        <p:spPr>
          <a:xfrm>
            <a:off x="951344" y="190588"/>
            <a:ext cx="10289309" cy="835746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Performance metrics</a:t>
            </a:r>
            <a:endParaRPr lang="el-GR" dirty="0"/>
          </a:p>
        </p:txBody>
      </p:sp>
      <p:sp>
        <p:nvSpPr>
          <p:cNvPr id="4" name="Θέση υποσέλιδου 3"/>
          <p:cNvSpPr>
            <a:spLocks noGrp="1"/>
          </p:cNvSpPr>
          <p:nvPr>
            <p:ph type="ftr" sz="quarter" idx="11"/>
          </p:nvPr>
        </p:nvSpPr>
        <p:spPr>
          <a:xfrm>
            <a:off x="4038599" y="6356350"/>
            <a:ext cx="4114800" cy="365125"/>
          </a:xfrm>
        </p:spPr>
        <p:txBody>
          <a:bodyPr/>
          <a:lstStyle/>
          <a:p>
            <a:r>
              <a:rPr lang="en-US" dirty="0" smtClean="0"/>
              <a:t>ECE321 Concurrent Programming 2021-2022</a:t>
            </a:r>
            <a:endParaRPr lang="el-GR" dirty="0"/>
          </a:p>
        </p:txBody>
      </p:sp>
      <p:sp>
        <p:nvSpPr>
          <p:cNvPr id="20" name="Υπότιτλος 2"/>
          <p:cNvSpPr txBox="1">
            <a:spLocks/>
          </p:cNvSpPr>
          <p:nvPr/>
        </p:nvSpPr>
        <p:spPr>
          <a:xfrm>
            <a:off x="1523998" y="1026334"/>
            <a:ext cx="9144000" cy="9550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l-GR" sz="1800" dirty="0" smtClean="0"/>
              <a:t>Εκτελέσαμε το πρόγραμμα με διαφορετικές τιμές </a:t>
            </a:r>
            <a:r>
              <a:rPr lang="en-US" sz="1800" dirty="0" smtClean="0"/>
              <a:t>threads </a:t>
            </a:r>
            <a:r>
              <a:rPr lang="el-GR" sz="1800" dirty="0" smtClean="0"/>
              <a:t>και διαφορετικές τιμές εισόδου. Με χρονόμετρο καταλήξαμε σε συμπεράσματα για την επιρροή του </a:t>
            </a:r>
            <a:r>
              <a:rPr lang="en-US" sz="1800" dirty="0" smtClean="0"/>
              <a:t># threads </a:t>
            </a:r>
            <a:r>
              <a:rPr lang="el-GR" sz="1800" dirty="0" smtClean="0"/>
              <a:t>και των τιμών εισόδου (αριθμός, πολυπλοκότητα υπολογισμού) στο χρόνο εκτέλεσης.</a:t>
            </a:r>
            <a:endParaRPr lang="en-US" sz="1800" dirty="0" smtClean="0"/>
          </a:p>
          <a:p>
            <a:pPr algn="l"/>
            <a:endParaRPr lang="el-GR" sz="1800" dirty="0"/>
          </a:p>
        </p:txBody>
      </p:sp>
      <p:graphicFrame>
        <p:nvGraphicFramePr>
          <p:cNvPr id="5" name="Γράφημα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65786378"/>
              </p:ext>
            </p:extLst>
          </p:nvPr>
        </p:nvGraphicFramePr>
        <p:xfrm>
          <a:off x="2887978" y="2065195"/>
          <a:ext cx="6416040" cy="38410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3590204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ctrTitle"/>
          </p:nvPr>
        </p:nvSpPr>
        <p:spPr>
          <a:xfrm>
            <a:off x="951344" y="190588"/>
            <a:ext cx="10289309" cy="835746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Performance metrics</a:t>
            </a:r>
            <a:endParaRPr lang="el-GR" dirty="0"/>
          </a:p>
        </p:txBody>
      </p:sp>
      <p:sp>
        <p:nvSpPr>
          <p:cNvPr id="4" name="Θέση υποσέλιδου 3"/>
          <p:cNvSpPr>
            <a:spLocks noGrp="1"/>
          </p:cNvSpPr>
          <p:nvPr>
            <p:ph type="ftr" sz="quarter" idx="11"/>
          </p:nvPr>
        </p:nvSpPr>
        <p:spPr>
          <a:xfrm>
            <a:off x="4038599" y="6356350"/>
            <a:ext cx="4114800" cy="365125"/>
          </a:xfrm>
        </p:spPr>
        <p:txBody>
          <a:bodyPr/>
          <a:lstStyle/>
          <a:p>
            <a:r>
              <a:rPr lang="en-US" dirty="0" smtClean="0"/>
              <a:t>ECE321 Concurrent Programming 2021-2022</a:t>
            </a:r>
            <a:endParaRPr lang="el-GR" dirty="0"/>
          </a:p>
        </p:txBody>
      </p:sp>
      <p:sp>
        <p:nvSpPr>
          <p:cNvPr id="20" name="Υπότιτλος 2"/>
          <p:cNvSpPr txBox="1">
            <a:spLocks/>
          </p:cNvSpPr>
          <p:nvPr/>
        </p:nvSpPr>
        <p:spPr>
          <a:xfrm>
            <a:off x="1203957" y="1460674"/>
            <a:ext cx="9784082" cy="42467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l-GR" sz="1800" dirty="0" smtClean="0"/>
              <a:t>Παρατηρούμε ότι ο χρόνος υπολογισμού μειώνεται ταχύτατα καθώς αυξάνουμε τα </a:t>
            </a:r>
            <a:r>
              <a:rPr lang="en-US" sz="1800" dirty="0" smtClean="0"/>
              <a:t>processing threads, </a:t>
            </a:r>
            <a:r>
              <a:rPr lang="el-GR" sz="1800" dirty="0" smtClean="0"/>
              <a:t>όταν πρόκειται για είσοδο με «δύσκολους» αριθμούς που θέλουν πολλούς κύκλους για να βρεθεί αν είναι </a:t>
            </a:r>
            <a:r>
              <a:rPr lang="en-US" sz="1800" dirty="0" smtClean="0"/>
              <a:t>primes.</a:t>
            </a:r>
            <a:endParaRPr lang="el-GR" sz="1800" dirty="0" smtClean="0"/>
          </a:p>
          <a:p>
            <a:pPr algn="l"/>
            <a:endParaRPr lang="el-GR" sz="1400" dirty="0" smtClean="0"/>
          </a:p>
          <a:p>
            <a:pPr algn="l"/>
            <a:r>
              <a:rPr lang="el-GR" sz="1800" dirty="0" err="1" smtClean="0"/>
              <a:t>Παρ’όλα</a:t>
            </a:r>
            <a:r>
              <a:rPr lang="el-GR" sz="1800" dirty="0" smtClean="0"/>
              <a:t> αυτά, για είσοδο περισσότερων αριθμών (1000000) αλλά πολύ πιο εύκολων στον υπολογισμό, παρατηρούμε αύξηση του </a:t>
            </a:r>
            <a:r>
              <a:rPr lang="en-US" sz="1800" dirty="0" smtClean="0"/>
              <a:t>execution time </a:t>
            </a:r>
            <a:r>
              <a:rPr lang="el-GR" sz="1800" dirty="0" smtClean="0"/>
              <a:t>σε οποιαδήποτε λειτουργία πέρα από </a:t>
            </a:r>
            <a:r>
              <a:rPr lang="en-US" sz="1800" dirty="0" smtClean="0"/>
              <a:t>single-threaded</a:t>
            </a:r>
            <a:r>
              <a:rPr lang="el-GR" sz="1800" dirty="0" smtClean="0"/>
              <a:t>. Αυτό πιθανότατα οφείλεται στο </a:t>
            </a:r>
            <a:r>
              <a:rPr lang="en-US" sz="1800" dirty="0" smtClean="0"/>
              <a:t>overhead </a:t>
            </a:r>
            <a:r>
              <a:rPr lang="el-GR" sz="1800" dirty="0" smtClean="0"/>
              <a:t>που υπάρχει για τη δημιουργία</a:t>
            </a:r>
            <a:r>
              <a:rPr lang="en-US" sz="1800" dirty="0" smtClean="0"/>
              <a:t> </a:t>
            </a:r>
            <a:r>
              <a:rPr lang="el-GR" sz="1800" dirty="0" smtClean="0"/>
              <a:t>και διαχείριση των </a:t>
            </a:r>
            <a:r>
              <a:rPr lang="en-US" sz="1800" dirty="0" smtClean="0"/>
              <a:t>threads </a:t>
            </a:r>
            <a:r>
              <a:rPr lang="el-GR" sz="1800" dirty="0" smtClean="0"/>
              <a:t>από τη βιβλιοθήκη</a:t>
            </a:r>
            <a:r>
              <a:rPr lang="en-US" sz="1800" dirty="0"/>
              <a:t> </a:t>
            </a:r>
            <a:r>
              <a:rPr lang="en-US" sz="1800" dirty="0" err="1" smtClean="0"/>
              <a:t>pthreads</a:t>
            </a:r>
            <a:r>
              <a:rPr lang="el-GR" sz="1800" dirty="0" smtClean="0"/>
              <a:t> καθώς και το συνεχές </a:t>
            </a:r>
            <a:r>
              <a:rPr lang="en-US" sz="1800" dirty="0" smtClean="0"/>
              <a:t>context switching</a:t>
            </a:r>
            <a:r>
              <a:rPr lang="el-GR" sz="1800" dirty="0"/>
              <a:t> </a:t>
            </a:r>
            <a:r>
              <a:rPr lang="el-GR" sz="1800" dirty="0" smtClean="0"/>
              <a:t>του </a:t>
            </a:r>
            <a:r>
              <a:rPr lang="en-US" sz="1800" dirty="0" smtClean="0"/>
              <a:t>CPU </a:t>
            </a:r>
            <a:r>
              <a:rPr lang="el-GR" sz="1800" dirty="0" smtClean="0"/>
              <a:t>που συμβαίνει μεταξύ των </a:t>
            </a:r>
            <a:r>
              <a:rPr lang="en-US" sz="1800" dirty="0" smtClean="0"/>
              <a:t>workers.</a:t>
            </a:r>
            <a:endParaRPr lang="el-GR" sz="1800" dirty="0" smtClean="0"/>
          </a:p>
          <a:p>
            <a:pPr algn="l"/>
            <a:endParaRPr lang="el-GR" sz="1400" dirty="0" smtClean="0"/>
          </a:p>
          <a:p>
            <a:pPr algn="l"/>
            <a:r>
              <a:rPr lang="el-GR" sz="1800" dirty="0" smtClean="0"/>
              <a:t>Με άλλα λόγια, φαίνεται πως όταν έχουμε μεγάλο </a:t>
            </a:r>
            <a:r>
              <a:rPr lang="en-US" sz="1800" dirty="0" smtClean="0"/>
              <a:t>workload </a:t>
            </a:r>
            <a:r>
              <a:rPr lang="el-GR" sz="1800" dirty="0" smtClean="0"/>
              <a:t>το οποίο όμως αποτελείται από </a:t>
            </a:r>
            <a:r>
              <a:rPr lang="en-US" sz="1800" dirty="0" smtClean="0"/>
              <a:t>lightweight </a:t>
            </a:r>
            <a:r>
              <a:rPr lang="el-GR" sz="1800" dirty="0" smtClean="0"/>
              <a:t>επιμέρους εργασίες, δεν αξίζει το </a:t>
            </a:r>
            <a:r>
              <a:rPr lang="en-US" sz="1800" dirty="0" smtClean="0"/>
              <a:t>multithreading </a:t>
            </a:r>
            <a:r>
              <a:rPr lang="el-GR" sz="1800" dirty="0" smtClean="0"/>
              <a:t>διότι το </a:t>
            </a:r>
            <a:r>
              <a:rPr lang="en-US" sz="1800" dirty="0" smtClean="0"/>
              <a:t>overhead </a:t>
            </a:r>
            <a:r>
              <a:rPr lang="el-GR" sz="1800" dirty="0" smtClean="0"/>
              <a:t>της «γραφειοκρατίας» του </a:t>
            </a:r>
            <a:r>
              <a:rPr lang="en-US" sz="1800" dirty="0" smtClean="0"/>
              <a:t>threading system </a:t>
            </a:r>
            <a:r>
              <a:rPr lang="el-GR" sz="1800" dirty="0" smtClean="0"/>
              <a:t>είναι περισσότερο από την δυσκολία υπολογισμού του ίδιου του </a:t>
            </a:r>
            <a:r>
              <a:rPr lang="en-US" sz="1800" dirty="0" smtClean="0"/>
              <a:t>workload.</a:t>
            </a:r>
            <a:endParaRPr lang="el-GR" sz="1800" dirty="0"/>
          </a:p>
        </p:txBody>
      </p:sp>
    </p:spTree>
    <p:extLst>
      <p:ext uri="{BB962C8B-B14F-4D97-AF65-F5344CB8AC3E}">
        <p14:creationId xmlns:p14="http://schemas.microsoft.com/office/powerpoint/2010/main" val="27286489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ctrTitle"/>
          </p:nvPr>
        </p:nvSpPr>
        <p:spPr>
          <a:xfrm>
            <a:off x="951344" y="190588"/>
            <a:ext cx="10289309" cy="835746"/>
          </a:xfrm>
        </p:spPr>
        <p:txBody>
          <a:bodyPr>
            <a:normAutofit fontScale="90000"/>
          </a:bodyPr>
          <a:lstStyle/>
          <a:p>
            <a:r>
              <a:rPr lang="en-US" dirty="0"/>
              <a:t>Distributed primes calculation</a:t>
            </a:r>
            <a:endParaRPr lang="el-GR" dirty="0"/>
          </a:p>
        </p:txBody>
      </p:sp>
      <p:sp>
        <p:nvSpPr>
          <p:cNvPr id="3" name="Υπότιτλος 2"/>
          <p:cNvSpPr>
            <a:spLocks noGrp="1"/>
          </p:cNvSpPr>
          <p:nvPr>
            <p:ph type="subTitle" idx="1"/>
          </p:nvPr>
        </p:nvSpPr>
        <p:spPr>
          <a:xfrm>
            <a:off x="1523999" y="1117600"/>
            <a:ext cx="9144000" cy="692727"/>
          </a:xfrm>
        </p:spPr>
        <p:txBody>
          <a:bodyPr/>
          <a:lstStyle/>
          <a:p>
            <a:r>
              <a:rPr lang="en-US" sz="1800" dirty="0" err="1" smtClean="0"/>
              <a:t>Evangelos</a:t>
            </a:r>
            <a:r>
              <a:rPr lang="en-US" sz="1800" dirty="0" smtClean="0"/>
              <a:t> </a:t>
            </a:r>
            <a:r>
              <a:rPr lang="en-US" sz="1800" dirty="0" err="1" smtClean="0"/>
              <a:t>Zampras</a:t>
            </a:r>
            <a:r>
              <a:rPr lang="en-US" sz="1800" dirty="0"/>
              <a:t> </a:t>
            </a:r>
            <a:r>
              <a:rPr lang="en-US" sz="1800" dirty="0" smtClean="0"/>
              <a:t>| </a:t>
            </a:r>
            <a:r>
              <a:rPr lang="en-US" sz="1800" dirty="0" err="1" smtClean="0"/>
              <a:t>Evangelos</a:t>
            </a:r>
            <a:r>
              <a:rPr lang="en-US" sz="1800" dirty="0" smtClean="0"/>
              <a:t> </a:t>
            </a:r>
            <a:r>
              <a:rPr lang="en-US" sz="1800" dirty="0" err="1" smtClean="0"/>
              <a:t>Balamotis</a:t>
            </a:r>
            <a:endParaRPr lang="en-US" sz="1800" dirty="0" smtClean="0"/>
          </a:p>
          <a:p>
            <a:r>
              <a:rPr lang="en-US" sz="1600" dirty="0" smtClean="0"/>
              <a:t>ECE, University of Thessaly</a:t>
            </a:r>
            <a:endParaRPr lang="el-GR" sz="1600" dirty="0"/>
          </a:p>
        </p:txBody>
      </p:sp>
      <p:sp>
        <p:nvSpPr>
          <p:cNvPr id="4" name="Θέση υποσέλιδου 3"/>
          <p:cNvSpPr>
            <a:spLocks noGrp="1"/>
          </p:cNvSpPr>
          <p:nvPr>
            <p:ph type="ftr" sz="quarter" idx="11"/>
          </p:nvPr>
        </p:nvSpPr>
        <p:spPr>
          <a:xfrm>
            <a:off x="4038599" y="6356350"/>
            <a:ext cx="4114800" cy="365125"/>
          </a:xfrm>
        </p:spPr>
        <p:txBody>
          <a:bodyPr/>
          <a:lstStyle/>
          <a:p>
            <a:r>
              <a:rPr lang="en-US" dirty="0" smtClean="0"/>
              <a:t>ECE321 Concurrent Programming 2021-2022</a:t>
            </a:r>
            <a:endParaRPr lang="el-GR" dirty="0"/>
          </a:p>
        </p:txBody>
      </p:sp>
      <p:sp>
        <p:nvSpPr>
          <p:cNvPr id="11" name="Υπότιτλος 2"/>
          <p:cNvSpPr txBox="1">
            <a:spLocks/>
          </p:cNvSpPr>
          <p:nvPr/>
        </p:nvSpPr>
        <p:spPr>
          <a:xfrm>
            <a:off x="3480431" y="3516658"/>
            <a:ext cx="5231133" cy="5666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 smtClean="0"/>
              <a:t>Thanks for your time!</a:t>
            </a:r>
            <a:endParaRPr lang="el-GR" sz="3200" dirty="0"/>
          </a:p>
        </p:txBody>
      </p:sp>
    </p:spTree>
    <p:extLst>
      <p:ext uri="{BB962C8B-B14F-4D97-AF65-F5344CB8AC3E}">
        <p14:creationId xmlns:p14="http://schemas.microsoft.com/office/powerpoint/2010/main" val="3879809381"/>
      </p:ext>
    </p:extLst>
  </p:cSld>
  <p:clrMapOvr>
    <a:masterClrMapping/>
  </p:clrMapOvr>
</p:sld>
</file>

<file path=ppt/theme/theme1.xml><?xml version="1.0" encoding="utf-8"?>
<a:theme xmlns:a="http://schemas.openxmlformats.org/drawingml/2006/main" name="Θέμα του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Θέμα του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597</Words>
  <Application>Microsoft Office PowerPoint</Application>
  <PresentationFormat>Ευρεία οθόνη</PresentationFormat>
  <Paragraphs>64</Paragraphs>
  <Slides>7</Slides>
  <Notes>7</Notes>
  <HiddenSlides>0</HiddenSlides>
  <MMClips>0</MMClips>
  <ScaleCrop>false</ScaleCrop>
  <HeadingPairs>
    <vt:vector size="6" baseType="variant">
      <vt:variant>
        <vt:lpstr>Γραμματοσειρές που χρησιμοποιούνται</vt:lpstr>
      </vt:variant>
      <vt:variant>
        <vt:i4>3</vt:i4>
      </vt:variant>
      <vt:variant>
        <vt:lpstr>Θέμα</vt:lpstr>
      </vt:variant>
      <vt:variant>
        <vt:i4>1</vt:i4>
      </vt:variant>
      <vt:variant>
        <vt:lpstr>Τίτλοι διαφανειών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Θέμα του Office</vt:lpstr>
      <vt:lpstr>Distributed primes calculation</vt:lpstr>
      <vt:lpstr>Υλοποίηση multithreading</vt:lpstr>
      <vt:lpstr>Υλοποίηση multithreading</vt:lpstr>
      <vt:lpstr>Επικοινωνία main-workers</vt:lpstr>
      <vt:lpstr>Performance metrics</vt:lpstr>
      <vt:lpstr>Performance metrics</vt:lpstr>
      <vt:lpstr>Distributed primes calculation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thread-safe pipe implementation</dc:title>
  <dc:creator>evan</dc:creator>
  <cp:lastModifiedBy>evan</cp:lastModifiedBy>
  <cp:revision>21</cp:revision>
  <dcterms:created xsi:type="dcterms:W3CDTF">2021-11-01T11:33:56Z</dcterms:created>
  <dcterms:modified xsi:type="dcterms:W3CDTF">2021-11-06T12:53:20Z</dcterms:modified>
</cp:coreProperties>
</file>