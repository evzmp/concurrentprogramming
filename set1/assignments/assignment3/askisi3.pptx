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7" r:id="rId4"/>
    <p:sldId id="259" r:id="rId5"/>
    <p:sldId id="262" r:id="rId6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Μεσαίο στυλ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5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3C0D5-E1F5-481E-9596-330DB891AFA2}" type="datetimeFigureOut">
              <a:rPr lang="el-GR" smtClean="0"/>
              <a:t>06/11/2021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0A052-7942-41CF-B178-D636C489F9C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4268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25999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82553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25813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59394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69776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 smtClean="0"/>
              <a:t>Στυλ κύριου υπότιτλου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D64B-0F15-4039-8FBC-72B45DC644A7}" type="datetime1">
              <a:rPr lang="el-GR" smtClean="0"/>
              <a:t>06/11/2021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62207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A996-A19B-4BDD-A82C-AB08C8E38545}" type="datetime1">
              <a:rPr lang="el-GR" smtClean="0"/>
              <a:t>06/11/2021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89293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4F0F1-95E1-4D7E-B2B4-E3024FFE3E67}" type="datetime1">
              <a:rPr lang="el-GR" smtClean="0"/>
              <a:t>06/11/2021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83866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A38B7-B1B5-492F-8AE5-DA4F3996A54C}" type="datetime1">
              <a:rPr lang="el-GR" smtClean="0"/>
              <a:t>06/11/2021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58451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D118C-8210-4532-ACDD-520B2862F8DC}" type="datetime1">
              <a:rPr lang="el-GR" smtClean="0"/>
              <a:t>06/11/2021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75293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4A3F-8F91-4092-AD6D-5981F420888C}" type="datetime1">
              <a:rPr lang="el-GR" smtClean="0"/>
              <a:t>06/11/2021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4155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54BBB-9B88-4C2A-99DC-6177C00EE0F1}" type="datetime1">
              <a:rPr lang="el-GR" smtClean="0"/>
              <a:t>06/11/2021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88151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236A0-F61F-4AEF-980A-7EA8613CC92E}" type="datetime1">
              <a:rPr lang="el-GR" smtClean="0"/>
              <a:t>06/11/2021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3455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AA5A8-D45B-4F9D-9132-15C5B3A1F61B}" type="datetime1">
              <a:rPr lang="el-GR" smtClean="0"/>
              <a:t>06/11/2021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3101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98249-7372-42C7-B177-5B4F7B050731}" type="datetime1">
              <a:rPr lang="el-GR" smtClean="0"/>
              <a:t>06/11/2021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83631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DA62-E08B-49AC-BE9B-042B458506FD}" type="datetime1">
              <a:rPr lang="el-GR" smtClean="0"/>
              <a:t>06/11/2021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1369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D8AF-4072-45F5-8FAB-F082D1787B4C}" type="datetime1">
              <a:rPr lang="el-GR" smtClean="0"/>
              <a:t>06/11/2021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0992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Threaded External Merge Sort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3999" y="1117600"/>
            <a:ext cx="9144000" cy="692727"/>
          </a:xfrm>
        </p:spPr>
        <p:txBody>
          <a:bodyPr/>
          <a:lstStyle/>
          <a:p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Zampras</a:t>
            </a:r>
            <a:r>
              <a:rPr lang="en-US" sz="1800" dirty="0"/>
              <a:t> </a:t>
            </a:r>
            <a:r>
              <a:rPr lang="en-US" sz="1800" dirty="0" smtClean="0"/>
              <a:t>| </a:t>
            </a:r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Balamotis</a:t>
            </a:r>
            <a:endParaRPr lang="en-US" sz="1800" dirty="0" smtClean="0"/>
          </a:p>
          <a:p>
            <a:r>
              <a:rPr lang="en-US" sz="1600" dirty="0" smtClean="0"/>
              <a:t>ECE, University of Thessaly</a:t>
            </a:r>
            <a:endParaRPr lang="el-GR" sz="1600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grpSp>
        <p:nvGrpSpPr>
          <p:cNvPr id="28" name="Ομάδα 27"/>
          <p:cNvGrpSpPr/>
          <p:nvPr/>
        </p:nvGrpSpPr>
        <p:grpSpPr>
          <a:xfrm>
            <a:off x="4326999" y="2388177"/>
            <a:ext cx="3537998" cy="3135085"/>
            <a:chOff x="4363962" y="2331962"/>
            <a:chExt cx="3537998" cy="3135085"/>
          </a:xfrm>
        </p:grpSpPr>
        <p:sp>
          <p:nvSpPr>
            <p:cNvPr id="5" name="Στρογγυλεμένο ορθογώνιο 4"/>
            <p:cNvSpPr/>
            <p:nvPr/>
          </p:nvSpPr>
          <p:spPr>
            <a:xfrm>
              <a:off x="4363962" y="2331962"/>
              <a:ext cx="3532412" cy="313508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cxnSp>
          <p:nvCxnSpPr>
            <p:cNvPr id="8" name="Ευθεία γραμμή σύνδεσης 7"/>
            <p:cNvCxnSpPr>
              <a:stCxn id="5" idx="0"/>
              <a:endCxn id="5" idx="2"/>
            </p:cNvCxnSpPr>
            <p:nvPr/>
          </p:nvCxnSpPr>
          <p:spPr>
            <a:xfrm>
              <a:off x="6130168" y="2331962"/>
              <a:ext cx="0" cy="3135085"/>
            </a:xfrm>
            <a:prstGeom prst="line">
              <a:avLst/>
            </a:prstGeom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Ευθεία γραμμή σύνδεσης 12"/>
            <p:cNvCxnSpPr/>
            <p:nvPr/>
          </p:nvCxnSpPr>
          <p:spPr>
            <a:xfrm>
              <a:off x="4363962" y="4231216"/>
              <a:ext cx="3532412" cy="0"/>
            </a:xfrm>
            <a:prstGeom prst="line">
              <a:avLst/>
            </a:prstGeom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Ευθεία γραμμή σύνδεσης 25"/>
            <p:cNvCxnSpPr/>
            <p:nvPr/>
          </p:nvCxnSpPr>
          <p:spPr>
            <a:xfrm>
              <a:off x="5247065" y="4231216"/>
              <a:ext cx="0" cy="1235831"/>
            </a:xfrm>
            <a:prstGeom prst="line">
              <a:avLst/>
            </a:prstGeom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Ευθεία γραμμή σύνδεσης 28"/>
            <p:cNvCxnSpPr/>
            <p:nvPr/>
          </p:nvCxnSpPr>
          <p:spPr>
            <a:xfrm>
              <a:off x="7013271" y="4231216"/>
              <a:ext cx="0" cy="1235831"/>
            </a:xfrm>
            <a:prstGeom prst="line">
              <a:avLst/>
            </a:prstGeom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Ευθεία γραμμή σύνδεσης 30"/>
            <p:cNvCxnSpPr/>
            <p:nvPr/>
          </p:nvCxnSpPr>
          <p:spPr>
            <a:xfrm>
              <a:off x="4363962" y="4849131"/>
              <a:ext cx="3532412" cy="0"/>
            </a:xfrm>
            <a:prstGeom prst="line">
              <a:avLst/>
            </a:prstGeom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Ευθεία γραμμή σύνδεσης 31"/>
            <p:cNvCxnSpPr/>
            <p:nvPr/>
          </p:nvCxnSpPr>
          <p:spPr>
            <a:xfrm>
              <a:off x="4828570" y="4849131"/>
              <a:ext cx="0" cy="617916"/>
            </a:xfrm>
            <a:prstGeom prst="line">
              <a:avLst/>
            </a:prstGeom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Ευθεία γραμμή σύνδεσης 32"/>
            <p:cNvCxnSpPr/>
            <p:nvPr/>
          </p:nvCxnSpPr>
          <p:spPr>
            <a:xfrm>
              <a:off x="7448399" y="4849131"/>
              <a:ext cx="0" cy="617916"/>
            </a:xfrm>
            <a:prstGeom prst="line">
              <a:avLst/>
            </a:prstGeom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Ευθεία γραμμή σύνδεσης 34"/>
            <p:cNvCxnSpPr/>
            <p:nvPr/>
          </p:nvCxnSpPr>
          <p:spPr>
            <a:xfrm>
              <a:off x="6570284" y="4842553"/>
              <a:ext cx="0" cy="617916"/>
            </a:xfrm>
            <a:prstGeom prst="line">
              <a:avLst/>
            </a:prstGeom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Ευθεία γραμμή σύνδεσης 35"/>
            <p:cNvCxnSpPr/>
            <p:nvPr/>
          </p:nvCxnSpPr>
          <p:spPr>
            <a:xfrm>
              <a:off x="5692170" y="4849131"/>
              <a:ext cx="0" cy="617916"/>
            </a:xfrm>
            <a:prstGeom prst="line">
              <a:avLst/>
            </a:prstGeom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Υπότιτλος 2"/>
            <p:cNvSpPr txBox="1">
              <a:spLocks/>
            </p:cNvSpPr>
            <p:nvPr/>
          </p:nvSpPr>
          <p:spPr>
            <a:xfrm>
              <a:off x="4982141" y="3190386"/>
              <a:ext cx="529849" cy="30305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/>
                <a:t>1</a:t>
              </a:r>
              <a:endParaRPr lang="el-GR" sz="1400" dirty="0"/>
            </a:p>
          </p:txBody>
        </p:sp>
        <p:sp>
          <p:nvSpPr>
            <p:cNvPr id="40" name="Υπότιτλος 2"/>
            <p:cNvSpPr txBox="1">
              <a:spLocks/>
            </p:cNvSpPr>
            <p:nvPr/>
          </p:nvSpPr>
          <p:spPr>
            <a:xfrm>
              <a:off x="6748346" y="3190386"/>
              <a:ext cx="529849" cy="30305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 smtClean="0"/>
                <a:t>2</a:t>
              </a:r>
              <a:endParaRPr lang="el-GR" sz="1400" dirty="0"/>
            </a:p>
          </p:txBody>
        </p:sp>
        <p:sp>
          <p:nvSpPr>
            <p:cNvPr id="41" name="Υπότιτλος 2"/>
            <p:cNvSpPr txBox="1">
              <a:spLocks/>
            </p:cNvSpPr>
            <p:nvPr/>
          </p:nvSpPr>
          <p:spPr>
            <a:xfrm>
              <a:off x="6329849" y="4391756"/>
              <a:ext cx="529849" cy="30305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 smtClean="0"/>
                <a:t>5</a:t>
              </a:r>
              <a:endParaRPr lang="el-GR" sz="1400" dirty="0"/>
            </a:p>
          </p:txBody>
        </p:sp>
        <p:sp>
          <p:nvSpPr>
            <p:cNvPr id="42" name="Υπότιτλος 2"/>
            <p:cNvSpPr txBox="1">
              <a:spLocks/>
            </p:cNvSpPr>
            <p:nvPr/>
          </p:nvSpPr>
          <p:spPr>
            <a:xfrm>
              <a:off x="5446747" y="4391261"/>
              <a:ext cx="529849" cy="30305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 smtClean="0"/>
                <a:t>4</a:t>
              </a:r>
              <a:endParaRPr lang="el-GR" sz="1400" dirty="0"/>
            </a:p>
          </p:txBody>
        </p:sp>
        <p:sp>
          <p:nvSpPr>
            <p:cNvPr id="43" name="Υπότιτλος 2"/>
            <p:cNvSpPr txBox="1">
              <a:spLocks/>
            </p:cNvSpPr>
            <p:nvPr/>
          </p:nvSpPr>
          <p:spPr>
            <a:xfrm>
              <a:off x="5206411" y="4968993"/>
              <a:ext cx="529849" cy="30305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 smtClean="0"/>
                <a:t>9</a:t>
              </a:r>
              <a:endParaRPr lang="el-GR" sz="1400" dirty="0"/>
            </a:p>
          </p:txBody>
        </p:sp>
        <p:sp>
          <p:nvSpPr>
            <p:cNvPr id="44" name="Υπότιτλος 2"/>
            <p:cNvSpPr txBox="1">
              <a:spLocks/>
            </p:cNvSpPr>
            <p:nvPr/>
          </p:nvSpPr>
          <p:spPr>
            <a:xfrm>
              <a:off x="7183474" y="4391261"/>
              <a:ext cx="529849" cy="30305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 smtClean="0"/>
                <a:t>6</a:t>
              </a:r>
              <a:endParaRPr lang="el-GR" sz="1400" dirty="0"/>
            </a:p>
          </p:txBody>
        </p:sp>
        <p:sp>
          <p:nvSpPr>
            <p:cNvPr id="45" name="Υπότιτλος 2"/>
            <p:cNvSpPr txBox="1">
              <a:spLocks/>
            </p:cNvSpPr>
            <p:nvPr/>
          </p:nvSpPr>
          <p:spPr>
            <a:xfrm>
              <a:off x="4363963" y="4968993"/>
              <a:ext cx="529849" cy="30305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 smtClean="0"/>
                <a:t>7</a:t>
              </a:r>
              <a:endParaRPr lang="el-GR" sz="1400" dirty="0"/>
            </a:p>
          </p:txBody>
        </p:sp>
        <p:sp>
          <p:nvSpPr>
            <p:cNvPr id="46" name="Υπότιτλος 2"/>
            <p:cNvSpPr txBox="1">
              <a:spLocks/>
            </p:cNvSpPr>
            <p:nvPr/>
          </p:nvSpPr>
          <p:spPr>
            <a:xfrm>
              <a:off x="4779338" y="4968993"/>
              <a:ext cx="529849" cy="30305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 smtClean="0"/>
                <a:t>8</a:t>
              </a:r>
              <a:endParaRPr lang="el-GR" sz="1400" dirty="0"/>
            </a:p>
          </p:txBody>
        </p:sp>
        <p:sp>
          <p:nvSpPr>
            <p:cNvPr id="47" name="Υπότιτλος 2"/>
            <p:cNvSpPr txBox="1">
              <a:spLocks/>
            </p:cNvSpPr>
            <p:nvPr/>
          </p:nvSpPr>
          <p:spPr>
            <a:xfrm>
              <a:off x="4575187" y="4391983"/>
              <a:ext cx="529849" cy="30305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 smtClean="0"/>
                <a:t>3</a:t>
              </a:r>
              <a:endParaRPr lang="el-GR" sz="1400" dirty="0"/>
            </a:p>
          </p:txBody>
        </p:sp>
        <p:sp>
          <p:nvSpPr>
            <p:cNvPr id="48" name="Υπότιτλος 2"/>
            <p:cNvSpPr txBox="1">
              <a:spLocks/>
            </p:cNvSpPr>
            <p:nvPr/>
          </p:nvSpPr>
          <p:spPr>
            <a:xfrm>
              <a:off x="5641538" y="4968992"/>
              <a:ext cx="529849" cy="30305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 smtClean="0"/>
                <a:t>10</a:t>
              </a:r>
              <a:endParaRPr lang="el-GR" sz="1400" dirty="0"/>
            </a:p>
          </p:txBody>
        </p:sp>
        <p:sp>
          <p:nvSpPr>
            <p:cNvPr id="49" name="Υπότιτλος 2"/>
            <p:cNvSpPr txBox="1">
              <a:spLocks/>
            </p:cNvSpPr>
            <p:nvPr/>
          </p:nvSpPr>
          <p:spPr>
            <a:xfrm>
              <a:off x="6956736" y="4966613"/>
              <a:ext cx="529849" cy="30305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 smtClean="0"/>
                <a:t>13</a:t>
              </a:r>
              <a:endParaRPr lang="el-GR" sz="1400" dirty="0"/>
            </a:p>
          </p:txBody>
        </p:sp>
        <p:sp>
          <p:nvSpPr>
            <p:cNvPr id="50" name="Υπότιτλος 2"/>
            <p:cNvSpPr txBox="1">
              <a:spLocks/>
            </p:cNvSpPr>
            <p:nvPr/>
          </p:nvSpPr>
          <p:spPr>
            <a:xfrm>
              <a:off x="6094536" y="4966614"/>
              <a:ext cx="529849" cy="30305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 smtClean="0"/>
                <a:t>11</a:t>
              </a:r>
              <a:endParaRPr lang="el-GR" sz="1400" dirty="0"/>
            </a:p>
          </p:txBody>
        </p:sp>
        <p:sp>
          <p:nvSpPr>
            <p:cNvPr id="51" name="Υπότιτλος 2"/>
            <p:cNvSpPr txBox="1">
              <a:spLocks/>
            </p:cNvSpPr>
            <p:nvPr/>
          </p:nvSpPr>
          <p:spPr>
            <a:xfrm>
              <a:off x="6509911" y="4966614"/>
              <a:ext cx="529849" cy="30305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 smtClean="0"/>
                <a:t>12</a:t>
              </a:r>
              <a:endParaRPr lang="el-GR" sz="1400" dirty="0"/>
            </a:p>
          </p:txBody>
        </p:sp>
        <p:sp>
          <p:nvSpPr>
            <p:cNvPr id="52" name="Υπότιτλος 2"/>
            <p:cNvSpPr txBox="1">
              <a:spLocks/>
            </p:cNvSpPr>
            <p:nvPr/>
          </p:nvSpPr>
          <p:spPr>
            <a:xfrm>
              <a:off x="7372111" y="4966613"/>
              <a:ext cx="529849" cy="30305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 smtClean="0"/>
                <a:t>14</a:t>
              </a:r>
              <a:endParaRPr lang="el-G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1325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Υλοποίηση </a:t>
            </a:r>
            <a:r>
              <a:rPr lang="en-US" dirty="0" smtClean="0"/>
              <a:t>threaded merge sort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3998" y="1479593"/>
            <a:ext cx="9144000" cy="3050803"/>
          </a:xfrm>
        </p:spPr>
        <p:txBody>
          <a:bodyPr>
            <a:normAutofit/>
          </a:bodyPr>
          <a:lstStyle/>
          <a:p>
            <a:pPr algn="l"/>
            <a:r>
              <a:rPr lang="el-GR" sz="1800" dirty="0" smtClean="0"/>
              <a:t>Η</a:t>
            </a:r>
            <a:r>
              <a:rPr lang="en-US" sz="1800" dirty="0" smtClean="0"/>
              <a:t> main </a:t>
            </a:r>
            <a:r>
              <a:rPr lang="el-GR" sz="1800" dirty="0" smtClean="0"/>
              <a:t>δίνει το αρχείο εισόδου στο πρώτο </a:t>
            </a:r>
            <a:r>
              <a:rPr lang="en-US" sz="1800" dirty="0" smtClean="0"/>
              <a:t>worker thread</a:t>
            </a:r>
            <a:r>
              <a:rPr lang="el-GR" sz="1800" dirty="0" smtClean="0"/>
              <a:t>. Στη συνέχεια, με βάση το </a:t>
            </a:r>
            <a:r>
              <a:rPr lang="en-US" sz="1800" dirty="0" smtClean="0"/>
              <a:t>specification, </a:t>
            </a:r>
            <a:r>
              <a:rPr lang="el-GR" sz="1800" dirty="0" smtClean="0"/>
              <a:t>το </a:t>
            </a:r>
            <a:r>
              <a:rPr lang="en-US" sz="1800" dirty="0" smtClean="0"/>
              <a:t>thread</a:t>
            </a:r>
            <a:r>
              <a:rPr lang="el-GR" sz="1800" dirty="0" smtClean="0"/>
              <a:t> εκτελεί</a:t>
            </a:r>
            <a:r>
              <a:rPr lang="en-US" sz="1800" dirty="0"/>
              <a:t> </a:t>
            </a:r>
            <a:r>
              <a:rPr lang="en-US" sz="1800" dirty="0" smtClean="0"/>
              <a:t>internal merge sort </a:t>
            </a:r>
            <a:r>
              <a:rPr lang="el-GR" sz="1800" dirty="0" smtClean="0"/>
              <a:t>αν το μέγεθος είναι μικρότερο από 64</a:t>
            </a:r>
            <a:r>
              <a:rPr lang="en-US" sz="1800" dirty="0" smtClean="0"/>
              <a:t> </a:t>
            </a:r>
            <a:r>
              <a:rPr lang="el-GR" sz="1800" dirty="0" smtClean="0"/>
              <a:t>ακέραιους (</a:t>
            </a:r>
            <a:r>
              <a:rPr lang="en-US" sz="1800" dirty="0" smtClean="0"/>
              <a:t>256 bytes </a:t>
            </a:r>
            <a:r>
              <a:rPr lang="el-GR" sz="1800" dirty="0" smtClean="0"/>
              <a:t>σε μια μηχανή όπου </a:t>
            </a:r>
            <a:r>
              <a:rPr lang="en-US" sz="1800" dirty="0" err="1" smtClean="0"/>
              <a:t>sizeof</a:t>
            </a:r>
            <a:r>
              <a:rPr lang="en-US" sz="1800" dirty="0" smtClean="0"/>
              <a:t>(</a:t>
            </a:r>
            <a:r>
              <a:rPr lang="en-US" sz="1800" dirty="0" err="1" smtClean="0"/>
              <a:t>int</a:t>
            </a:r>
            <a:r>
              <a:rPr lang="en-US" sz="1800" dirty="0" smtClean="0"/>
              <a:t>) == 4), </a:t>
            </a:r>
            <a:r>
              <a:rPr lang="el-GR" sz="1800" dirty="0" smtClean="0"/>
              <a:t>ή χωρίζει το αρχείο σε δύο μισά και αναθέτει το </a:t>
            </a:r>
            <a:r>
              <a:rPr lang="en-US" sz="1800" dirty="0" smtClean="0"/>
              <a:t>sorting </a:t>
            </a:r>
            <a:r>
              <a:rPr lang="el-GR" sz="1800" dirty="0" smtClean="0"/>
              <a:t>του καθενός σε ένα </a:t>
            </a:r>
            <a:r>
              <a:rPr lang="en-US" sz="1800" dirty="0" smtClean="0"/>
              <a:t>sub-thread.</a:t>
            </a:r>
          </a:p>
          <a:p>
            <a:pPr algn="l"/>
            <a:r>
              <a:rPr lang="el-GR" sz="1800" dirty="0" smtClean="0"/>
              <a:t>Όταν επιστρέφουν τα</a:t>
            </a:r>
            <a:r>
              <a:rPr lang="en-US" sz="1800" dirty="0"/>
              <a:t> </a:t>
            </a:r>
            <a:r>
              <a:rPr lang="en-US" sz="1800" dirty="0" smtClean="0"/>
              <a:t>2 threads, </a:t>
            </a:r>
            <a:r>
              <a:rPr lang="el-GR" sz="1800" dirty="0" smtClean="0"/>
              <a:t>ενώνει τα αρχεία σε ένα</a:t>
            </a:r>
            <a:r>
              <a:rPr lang="en-US" sz="1800" dirty="0"/>
              <a:t> </a:t>
            </a:r>
            <a:r>
              <a:rPr lang="en-US" sz="1800" dirty="0" smtClean="0"/>
              <a:t>sorted </a:t>
            </a:r>
            <a:r>
              <a:rPr lang="el-GR" sz="1800" dirty="0" smtClean="0"/>
              <a:t>αρχείο εξόδου.</a:t>
            </a:r>
            <a:endParaRPr lang="en-US" sz="1800" dirty="0" smtClean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518892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Race conditions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20" name="Υπότιτλος 2"/>
          <p:cNvSpPr txBox="1">
            <a:spLocks/>
          </p:cNvSpPr>
          <p:nvPr/>
        </p:nvSpPr>
        <p:spPr>
          <a:xfrm>
            <a:off x="1485292" y="1423769"/>
            <a:ext cx="9221412" cy="33586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l-GR" sz="1600" dirty="0" smtClean="0"/>
              <a:t>Με βάση τον τρόπο που έχει γραφτεί το πρόγραμμα, δεν υπάρχουν κίνδυνοι συγχρονισμού καθώς το κάθε </a:t>
            </a:r>
            <a:r>
              <a:rPr lang="en-US" sz="1600" dirty="0" smtClean="0"/>
              <a:t>thread </a:t>
            </a:r>
            <a:r>
              <a:rPr lang="el-GR" sz="1600" dirty="0" smtClean="0"/>
              <a:t>ταξινομεί ένα ξεχωριστό κομμάτι του αρχείου και στη συνέ</a:t>
            </a:r>
            <a:r>
              <a:rPr lang="el-GR" sz="1600" dirty="0" smtClean="0"/>
              <a:t>χεια ένα μοναδικό άλλο </a:t>
            </a:r>
            <a:r>
              <a:rPr lang="en-US" sz="1600" dirty="0" smtClean="0"/>
              <a:t>thread (</a:t>
            </a:r>
            <a:r>
              <a:rPr lang="el-GR" sz="1600" dirty="0" smtClean="0"/>
              <a:t>το </a:t>
            </a:r>
            <a:r>
              <a:rPr lang="en-US" sz="1600" dirty="0" smtClean="0"/>
              <a:t>parent thread </a:t>
            </a:r>
            <a:r>
              <a:rPr lang="el-GR" sz="1600" dirty="0" smtClean="0"/>
              <a:t>και των δύο) ενώνει τα δύο </a:t>
            </a:r>
            <a:r>
              <a:rPr lang="el-GR" sz="1600" dirty="0" err="1" smtClean="0"/>
              <a:t>υπο</a:t>
            </a:r>
            <a:r>
              <a:rPr lang="el-GR" sz="1600" dirty="0" smtClean="0"/>
              <a:t>-αρχεία σε ένα.</a:t>
            </a:r>
          </a:p>
          <a:p>
            <a:pPr algn="l"/>
            <a:r>
              <a:rPr lang="el-GR" sz="1600" dirty="0" smtClean="0"/>
              <a:t>Με αυτόν τον τρόπο αποφεύγουμε λιμοκτονίας, απώλειας προόδου και </a:t>
            </a:r>
            <a:r>
              <a:rPr lang="en-US" sz="1600" dirty="0" smtClean="0"/>
              <a:t>deadlocks </a:t>
            </a:r>
            <a:r>
              <a:rPr lang="el-GR" sz="1600" dirty="0" smtClean="0"/>
              <a:t>καθώς το πρόγραμμα χωρίζει εξαρχής το </a:t>
            </a:r>
            <a:r>
              <a:rPr lang="en-US" sz="1600" dirty="0" smtClean="0"/>
              <a:t>input </a:t>
            </a:r>
            <a:r>
              <a:rPr lang="el-GR" sz="1600" dirty="0" smtClean="0"/>
              <a:t>σε μέρη και το κάθε </a:t>
            </a:r>
            <a:r>
              <a:rPr lang="en-US" sz="1600" dirty="0" smtClean="0"/>
              <a:t>thread </a:t>
            </a:r>
            <a:r>
              <a:rPr lang="el-GR" sz="1600" dirty="0" smtClean="0"/>
              <a:t>αναλαμβάνει μόνο ένα από αυτά κάθε χρονική στιγμή.</a:t>
            </a:r>
            <a:endParaRPr lang="el-GR" sz="1600" dirty="0"/>
          </a:p>
        </p:txBody>
      </p:sp>
    </p:spTree>
    <p:extLst>
      <p:ext uri="{BB962C8B-B14F-4D97-AF65-F5344CB8AC3E}">
        <p14:creationId xmlns:p14="http://schemas.microsoft.com/office/powerpoint/2010/main" val="4094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Αναδρομή και μνήμη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20" name="Υπότιτλος 2"/>
          <p:cNvSpPr txBox="1">
            <a:spLocks/>
          </p:cNvSpPr>
          <p:nvPr/>
        </p:nvSpPr>
        <p:spPr>
          <a:xfrm>
            <a:off x="1523998" y="1426516"/>
            <a:ext cx="9144000" cy="3888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l-GR" sz="1600" dirty="0" smtClean="0"/>
              <a:t>Με δοκιμές παρατηρήσαμε ότι όταν επιτρέπουμε </a:t>
            </a:r>
            <a:r>
              <a:rPr lang="en-US" sz="1600" dirty="0" smtClean="0"/>
              <a:t>sorting </a:t>
            </a:r>
            <a:r>
              <a:rPr lang="el-GR" sz="1600" dirty="0" smtClean="0"/>
              <a:t>στη μνήμη μόνο σε μεγέθη μικρότερα από 64 ακεραίους (256 </a:t>
            </a:r>
            <a:r>
              <a:rPr lang="en-US" sz="1600" dirty="0" smtClean="0"/>
              <a:t>bytes), </a:t>
            </a:r>
            <a:r>
              <a:rPr lang="el-GR" sz="1600" dirty="0" smtClean="0"/>
              <a:t>έχουμε περιορισμό στο πόσο μεγάλα αρχεία μπορούμε να ταξινομήσουμε αφού δημιουργείται </a:t>
            </a:r>
            <a:r>
              <a:rPr lang="en-US" sz="1600" dirty="0" smtClean="0"/>
              <a:t>stack overflow </a:t>
            </a:r>
            <a:r>
              <a:rPr lang="el-GR" sz="1600" dirty="0" smtClean="0"/>
              <a:t>λόγω των πολλών επιπέδων αναδρομής.</a:t>
            </a:r>
          </a:p>
          <a:p>
            <a:pPr algn="l"/>
            <a:endParaRPr lang="el-GR" sz="1400" dirty="0"/>
          </a:p>
          <a:p>
            <a:pPr algn="l"/>
            <a:r>
              <a:rPr lang="el-GR" sz="1600" dirty="0" smtClean="0"/>
              <a:t>Αν είμαστε πιο ανεκτικοί στο ελάχιστο μέγεθος μνήμης και το θέσουμε πάνω από μία γενναιόδωρη τιμή όπως 1 </a:t>
            </a:r>
            <a:r>
              <a:rPr lang="en-US" sz="1600" dirty="0" smtClean="0"/>
              <a:t>KB</a:t>
            </a:r>
            <a:r>
              <a:rPr lang="el-GR" sz="1600" dirty="0" smtClean="0"/>
              <a:t>, μπορούμε να ταξινομήσουμε πολύ μεγαλύτερα αρχεία.</a:t>
            </a:r>
            <a:endParaRPr lang="el-GR" sz="1600" dirty="0"/>
          </a:p>
        </p:txBody>
      </p:sp>
    </p:spTree>
    <p:extLst>
      <p:ext uri="{BB962C8B-B14F-4D97-AF65-F5344CB8AC3E}">
        <p14:creationId xmlns:p14="http://schemas.microsoft.com/office/powerpoint/2010/main" val="317254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n-US" dirty="0"/>
              <a:t>Threaded External Merge Sort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3999" y="1117600"/>
            <a:ext cx="9144000" cy="692789"/>
          </a:xfrm>
        </p:spPr>
        <p:txBody>
          <a:bodyPr/>
          <a:lstStyle/>
          <a:p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Zampras</a:t>
            </a:r>
            <a:r>
              <a:rPr lang="en-US" sz="1800" dirty="0"/>
              <a:t> </a:t>
            </a:r>
            <a:r>
              <a:rPr lang="en-US" sz="1800" dirty="0" smtClean="0"/>
              <a:t>| </a:t>
            </a:r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Balamotis</a:t>
            </a:r>
            <a:endParaRPr lang="en-US" sz="1800" dirty="0" smtClean="0"/>
          </a:p>
          <a:p>
            <a:r>
              <a:rPr lang="en-US" sz="1600" dirty="0" smtClean="0"/>
              <a:t>ECE, University of Thessaly</a:t>
            </a:r>
            <a:endParaRPr lang="el-GR" sz="1600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11" name="Υπότιτλος 2"/>
          <p:cNvSpPr txBox="1">
            <a:spLocks/>
          </p:cNvSpPr>
          <p:nvPr/>
        </p:nvSpPr>
        <p:spPr>
          <a:xfrm>
            <a:off x="3480431" y="3516658"/>
            <a:ext cx="5231133" cy="56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/>
              <a:t>Thanks for your time!</a:t>
            </a:r>
            <a:endParaRPr lang="el-GR" sz="3200" dirty="0"/>
          </a:p>
        </p:txBody>
      </p:sp>
    </p:spTree>
    <p:extLst>
      <p:ext uri="{BB962C8B-B14F-4D97-AF65-F5344CB8AC3E}">
        <p14:creationId xmlns:p14="http://schemas.microsoft.com/office/powerpoint/2010/main" val="3879809381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303</Words>
  <Application>Microsoft Office PowerPoint</Application>
  <PresentationFormat>Ευρεία οθόνη</PresentationFormat>
  <Paragraphs>41</Paragraphs>
  <Slides>5</Slides>
  <Notes>5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Θέμα του Office</vt:lpstr>
      <vt:lpstr>Threaded External Merge Sort</vt:lpstr>
      <vt:lpstr>Υλοποίηση threaded merge sort</vt:lpstr>
      <vt:lpstr>Race conditions</vt:lpstr>
      <vt:lpstr>Αναδρομή και μνήμη</vt:lpstr>
      <vt:lpstr>Threaded External Merge Sort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thread-safe pipe implementation</dc:title>
  <dc:creator>evan</dc:creator>
  <cp:lastModifiedBy>evan</cp:lastModifiedBy>
  <cp:revision>27</cp:revision>
  <dcterms:created xsi:type="dcterms:W3CDTF">2021-11-01T11:33:56Z</dcterms:created>
  <dcterms:modified xsi:type="dcterms:W3CDTF">2021-11-06T15:55:03Z</dcterms:modified>
</cp:coreProperties>
</file>