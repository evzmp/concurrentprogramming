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Μεσαίο στυλ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48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C0D5-E1F5-481E-9596-330DB891AFA2}" type="datetimeFigureOut">
              <a:rPr lang="el-GR" smtClean="0"/>
              <a:t>03/11/2021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0A052-7942-41CF-B178-D636C489F9C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268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2599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04977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80200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91438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97286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63052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15075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 smtClean="0"/>
              <a:t>Στυλ κύριου υπότιτλου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D64B-0F15-4039-8FBC-72B45DC644A7}" type="datetime1">
              <a:rPr lang="el-GR" smtClean="0"/>
              <a:t>03/11/2021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220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A996-A19B-4BDD-A82C-AB08C8E38545}" type="datetime1">
              <a:rPr lang="el-GR" smtClean="0"/>
              <a:t>03/11/2021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929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4F0F1-95E1-4D7E-B2B4-E3024FFE3E67}" type="datetime1">
              <a:rPr lang="el-GR" smtClean="0"/>
              <a:t>03/11/2021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386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A38B7-B1B5-492F-8AE5-DA4F3996A54C}" type="datetime1">
              <a:rPr lang="el-GR" smtClean="0"/>
              <a:t>03/11/2021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5845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D118C-8210-4532-ACDD-520B2862F8DC}" type="datetime1">
              <a:rPr lang="el-GR" smtClean="0"/>
              <a:t>03/11/2021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529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4A3F-8F91-4092-AD6D-5981F420888C}" type="datetime1">
              <a:rPr lang="el-GR" smtClean="0"/>
              <a:t>03/11/2021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4155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54BBB-9B88-4C2A-99DC-6177C00EE0F1}" type="datetime1">
              <a:rPr lang="el-GR" smtClean="0"/>
              <a:t>03/11/2021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815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236A0-F61F-4AEF-980A-7EA8613CC92E}" type="datetime1">
              <a:rPr lang="el-GR" smtClean="0"/>
              <a:t>03/11/2021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345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AA5A8-D45B-4F9D-9132-15C5B3A1F61B}" type="datetime1">
              <a:rPr lang="el-GR" smtClean="0"/>
              <a:t>03/11/2021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101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98249-7372-42C7-B177-5B4F7B050731}" type="datetime1">
              <a:rPr lang="el-GR" smtClean="0"/>
              <a:t>03/11/2021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8363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DA62-E08B-49AC-BE9B-042B458506FD}" type="datetime1">
              <a:rPr lang="el-GR" smtClean="0"/>
              <a:t>03/11/2021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369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D8AF-4072-45F5-8FAB-F082D1787B4C}" type="datetime1">
              <a:rPr lang="el-GR" smtClean="0"/>
              <a:t>03/11/2021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992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thread-safe pipe implementation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3999" y="111760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grpSp>
        <p:nvGrpSpPr>
          <p:cNvPr id="14" name="Ομάδα 13"/>
          <p:cNvGrpSpPr/>
          <p:nvPr/>
        </p:nvGrpSpPr>
        <p:grpSpPr>
          <a:xfrm>
            <a:off x="2493577" y="2570829"/>
            <a:ext cx="7204842" cy="2534045"/>
            <a:chOff x="2493578" y="2296509"/>
            <a:chExt cx="7204842" cy="2534045"/>
          </a:xfrm>
        </p:grpSpPr>
        <p:sp>
          <p:nvSpPr>
            <p:cNvPr id="5" name="Στρογγυλεμένο ορθογώνιο 4"/>
            <p:cNvSpPr/>
            <p:nvPr/>
          </p:nvSpPr>
          <p:spPr>
            <a:xfrm>
              <a:off x="2493578" y="2301765"/>
              <a:ext cx="1545021" cy="252878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Input</a:t>
              </a:r>
              <a:endParaRPr lang="el-GR" dirty="0">
                <a:solidFill>
                  <a:schemeClr val="tx1"/>
                </a:solidFill>
              </a:endParaRPr>
            </a:p>
          </p:txBody>
        </p:sp>
        <p:sp>
          <p:nvSpPr>
            <p:cNvPr id="6" name="Στρογγυλεμένο ορθογώνιο 5"/>
            <p:cNvSpPr/>
            <p:nvPr/>
          </p:nvSpPr>
          <p:spPr>
            <a:xfrm>
              <a:off x="8153399" y="2296509"/>
              <a:ext cx="1545021" cy="252878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Output</a:t>
              </a:r>
              <a:endParaRPr lang="el-GR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Ευθύγραμμο βέλος σύνδεσης 7"/>
            <p:cNvCxnSpPr/>
            <p:nvPr/>
          </p:nvCxnSpPr>
          <p:spPr>
            <a:xfrm>
              <a:off x="4433263" y="2919774"/>
              <a:ext cx="32224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Ευθύγραμμο βέλος σύνδεσης 8"/>
            <p:cNvCxnSpPr/>
            <p:nvPr/>
          </p:nvCxnSpPr>
          <p:spPr>
            <a:xfrm flipH="1" flipV="1">
              <a:off x="4433263" y="4168402"/>
              <a:ext cx="3222471" cy="142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Τίτλος 1"/>
            <p:cNvSpPr txBox="1">
              <a:spLocks/>
            </p:cNvSpPr>
            <p:nvPr/>
          </p:nvSpPr>
          <p:spPr>
            <a:xfrm>
              <a:off x="5003792" y="3149798"/>
              <a:ext cx="2084386" cy="67520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dirty="0" smtClean="0"/>
                <a:t>Pipe</a:t>
              </a:r>
              <a:endParaRPr lang="el-GR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1325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Αποφυγή των </a:t>
            </a:r>
            <a:r>
              <a:rPr lang="en-US" dirty="0" smtClean="0"/>
              <a:t>Race Conditions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523998" y="1207699"/>
            <a:ext cx="9144000" cy="2803049"/>
          </a:xfrm>
        </p:spPr>
        <p:txBody>
          <a:bodyPr>
            <a:normAutofit/>
          </a:bodyPr>
          <a:lstStyle/>
          <a:p>
            <a:pPr algn="l"/>
            <a:r>
              <a:rPr lang="el-GR" sz="1800" dirty="0" smtClean="0"/>
              <a:t>Εντοπίσαμε </a:t>
            </a:r>
            <a:r>
              <a:rPr lang="en-US" sz="1800" dirty="0" smtClean="0"/>
              <a:t>race conditions (</a:t>
            </a:r>
            <a:r>
              <a:rPr lang="el-GR" sz="1800" dirty="0" smtClean="0"/>
              <a:t>ταυτόχρονη εγγραφή και ανάγνωση από/προς σωλήνα</a:t>
            </a:r>
            <a:r>
              <a:rPr lang="el-GR" sz="1800" dirty="0" smtClean="0"/>
              <a:t>), που ουσιαστικά αφορούν την προστασία του </a:t>
            </a:r>
            <a:r>
              <a:rPr lang="en-US" sz="1800" dirty="0" smtClean="0"/>
              <a:t>count variable </a:t>
            </a:r>
            <a:r>
              <a:rPr lang="el-GR" sz="1800" dirty="0" smtClean="0"/>
              <a:t>μέσα στο </a:t>
            </a:r>
            <a:r>
              <a:rPr lang="en-US" sz="1800" dirty="0" smtClean="0"/>
              <a:t>circular buffer.</a:t>
            </a:r>
          </a:p>
          <a:p>
            <a:pPr algn="l"/>
            <a:endParaRPr lang="el-GR" sz="1400" dirty="0" smtClean="0"/>
          </a:p>
          <a:p>
            <a:pPr algn="l"/>
            <a:r>
              <a:rPr lang="el-GR" sz="1800" dirty="0" smtClean="0"/>
              <a:t>Για να τα αποφύγουμε εισάγουμε μεταβλητές</a:t>
            </a:r>
            <a:r>
              <a:rPr lang="en-US" sz="1800" dirty="0"/>
              <a:t> </a:t>
            </a:r>
            <a:r>
              <a:rPr lang="en-US" sz="1800" dirty="0" smtClean="0"/>
              <a:t>read, write </a:t>
            </a:r>
            <a:r>
              <a:rPr lang="el-GR" sz="1800" dirty="0" smtClean="0"/>
              <a:t>και </a:t>
            </a:r>
            <a:r>
              <a:rPr lang="en-US" sz="1800" dirty="0" smtClean="0"/>
              <a:t>turn </a:t>
            </a:r>
            <a:r>
              <a:rPr lang="el-GR" sz="1800" dirty="0" smtClean="0"/>
              <a:t>για να δηλώσουμε πότε μια </a:t>
            </a:r>
            <a:r>
              <a:rPr lang="el-GR" sz="1800" dirty="0" err="1" smtClean="0"/>
              <a:t>υπορουτίνα</a:t>
            </a:r>
            <a:r>
              <a:rPr lang="el-GR" sz="1800" dirty="0" smtClean="0"/>
              <a:t> θέλει να διαβάσει, να γράψει στον κάθε ένα σωλήνα και πότε είναι η σειρά του </a:t>
            </a:r>
            <a:r>
              <a:rPr lang="en-US" sz="1800" dirty="0" smtClean="0"/>
              <a:t>read </a:t>
            </a:r>
            <a:r>
              <a:rPr lang="el-GR" sz="1800" dirty="0" smtClean="0"/>
              <a:t>και του </a:t>
            </a:r>
            <a:r>
              <a:rPr lang="en-US" sz="1800" dirty="0" smtClean="0"/>
              <a:t>write.</a:t>
            </a:r>
          </a:p>
          <a:p>
            <a:pPr algn="l"/>
            <a:endParaRPr lang="en-US" sz="1400" dirty="0" smtClean="0"/>
          </a:p>
          <a:p>
            <a:pPr algn="l"/>
            <a:r>
              <a:rPr lang="el-GR" sz="1800" dirty="0" smtClean="0"/>
              <a:t>Η υλοποίηση είναι παρόμοια με τους αλγορίθμους </a:t>
            </a:r>
            <a:r>
              <a:rPr lang="en-US" sz="1800" dirty="0" smtClean="0"/>
              <a:t>Dekker </a:t>
            </a:r>
            <a:r>
              <a:rPr lang="el-GR" sz="1800" dirty="0" smtClean="0"/>
              <a:t>και </a:t>
            </a:r>
            <a:r>
              <a:rPr lang="en-US" sz="1800" dirty="0" smtClean="0"/>
              <a:t>Peterson </a:t>
            </a:r>
            <a:r>
              <a:rPr lang="el-GR" sz="1800" dirty="0" smtClean="0"/>
              <a:t>που αποτελούν αποδεδειγμένες λύσεις στο πρόβλημα του </a:t>
            </a:r>
            <a:r>
              <a:rPr lang="en-US" sz="1800" dirty="0" smtClean="0"/>
              <a:t>mutual exclusion.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33676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Συναρτήσεις βιβλιοθήκης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523998" y="1042209"/>
            <a:ext cx="9144000" cy="339161"/>
          </a:xfrm>
        </p:spPr>
        <p:txBody>
          <a:bodyPr>
            <a:normAutofit/>
          </a:bodyPr>
          <a:lstStyle/>
          <a:p>
            <a:pPr algn="l"/>
            <a:r>
              <a:rPr lang="el-GR" sz="1800" dirty="0" smtClean="0"/>
              <a:t>Κατασκευάσαμε τις εξής συναρτήσεις ως </a:t>
            </a:r>
            <a:r>
              <a:rPr lang="en-US" sz="1800" dirty="0" smtClean="0"/>
              <a:t>“API” </a:t>
            </a:r>
            <a:r>
              <a:rPr lang="el-GR" sz="1800" dirty="0" smtClean="0"/>
              <a:t>της βιβλιοθήκης:</a:t>
            </a:r>
          </a:p>
        </p:txBody>
      </p:sp>
      <p:graphicFrame>
        <p:nvGraphicFramePr>
          <p:cNvPr id="3" name="Πίνακας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846972"/>
              </p:ext>
            </p:extLst>
          </p:nvPr>
        </p:nvGraphicFramePr>
        <p:xfrm>
          <a:off x="1661158" y="1580406"/>
          <a:ext cx="9006840" cy="441118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02280"/>
                <a:gridCol w="3002280"/>
                <a:gridCol w="3002280"/>
              </a:tblGrid>
              <a:tr h="369406">
                <a:tc>
                  <a:txBody>
                    <a:bodyPr/>
                    <a:lstStyle/>
                    <a:p>
                      <a:pPr algn="ctr"/>
                      <a:r>
                        <a:rPr lang="el-GR" sz="1600" b="1" dirty="0" smtClean="0">
                          <a:solidFill>
                            <a:schemeClr val="tx1"/>
                          </a:solidFill>
                        </a:rPr>
                        <a:t>Συνάρτηση</a:t>
                      </a:r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l-G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b="1" dirty="0" smtClean="0">
                          <a:solidFill>
                            <a:schemeClr val="tx1"/>
                          </a:solidFill>
                        </a:rPr>
                        <a:t>Τιμή</a:t>
                      </a:r>
                      <a:r>
                        <a:rPr lang="el-GR" sz="1600" b="1" baseline="0" dirty="0" smtClean="0">
                          <a:solidFill>
                            <a:schemeClr val="tx1"/>
                          </a:solidFill>
                        </a:rPr>
                        <a:t> επιστροφής</a:t>
                      </a:r>
                      <a:endParaRPr lang="el-G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b="1" dirty="0" smtClean="0">
                          <a:solidFill>
                            <a:schemeClr val="tx1"/>
                          </a:solidFill>
                        </a:rPr>
                        <a:t>Χρήση</a:t>
                      </a:r>
                      <a:endParaRPr lang="el-G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2088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pipe_read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 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1: success, 0: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 pipe closed, -1: pipe not 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found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b="0" dirty="0" smtClean="0">
                          <a:solidFill>
                            <a:schemeClr val="tx1"/>
                          </a:solidFill>
                        </a:rPr>
                        <a:t>Διάβασμα 1 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byte </a:t>
                      </a:r>
                      <a:r>
                        <a:rPr lang="el-GR" sz="1600" b="0" dirty="0" smtClean="0">
                          <a:solidFill>
                            <a:schemeClr val="tx1"/>
                          </a:solidFill>
                        </a:rPr>
                        <a:t>από αγωγό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2088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pipe_write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1: success, -1: pipe not 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found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b="0" dirty="0" smtClean="0">
                          <a:solidFill>
                            <a:schemeClr val="tx1"/>
                          </a:solidFill>
                        </a:rPr>
                        <a:t>Γράψιμο 1 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byte </a:t>
                      </a:r>
                      <a:r>
                        <a:rPr lang="el-GR" sz="1600" b="0" dirty="0" smtClean="0">
                          <a:solidFill>
                            <a:schemeClr val="tx1"/>
                          </a:solidFill>
                        </a:rPr>
                        <a:t>σε</a:t>
                      </a:r>
                      <a:r>
                        <a:rPr lang="el-GR" sz="16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l-GR" sz="1600" b="0" dirty="0" smtClean="0">
                          <a:solidFill>
                            <a:schemeClr val="tx1"/>
                          </a:solidFill>
                        </a:rPr>
                        <a:t>αγωγό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37151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pipe_open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&lt;id&gt;: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 success, -1: pipe 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not created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b="0" dirty="0" smtClean="0">
                          <a:solidFill>
                            <a:schemeClr val="tx1"/>
                          </a:solidFill>
                        </a:rPr>
                        <a:t>Άνοιγμα νέου αγωγού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46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pipe_writeDone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1: success, -1: pipe not found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b="0" dirty="0" smtClean="0">
                          <a:solidFill>
                            <a:schemeClr val="tx1"/>
                          </a:solidFill>
                        </a:rPr>
                        <a:t>Κλείσιμο</a:t>
                      </a:r>
                      <a:r>
                        <a:rPr lang="el-GR" sz="1600" b="0" baseline="0" dirty="0" smtClean="0">
                          <a:solidFill>
                            <a:schemeClr val="tx1"/>
                          </a:solidFill>
                        </a:rPr>
                        <a:t> αγωγού για γράψιμο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46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pipe_init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void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b="0" dirty="0" smtClean="0">
                          <a:solidFill>
                            <a:schemeClr val="tx1"/>
                          </a:solidFill>
                        </a:rPr>
                        <a:t>Δημιουργία</a:t>
                      </a:r>
                      <a:r>
                        <a:rPr lang="el-GR" sz="16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l-GR" sz="1600" b="0" baseline="0" dirty="0" smtClean="0">
                          <a:solidFill>
                            <a:schemeClr val="tx1"/>
                          </a:solidFill>
                        </a:rPr>
                        <a:t>εσωτερικής δομής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</a:rPr>
                        <a:t> pipe system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9406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pipe_destroy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</a:rPr>
                        <a:t>void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b="0" dirty="0" smtClean="0">
                          <a:solidFill>
                            <a:schemeClr val="tx1"/>
                          </a:solidFill>
                        </a:rPr>
                        <a:t>Εκκαθάριση αγωγού</a:t>
                      </a:r>
                      <a:r>
                        <a:rPr lang="el-GR" sz="1600" b="0" baseline="0" dirty="0" smtClean="0">
                          <a:solidFill>
                            <a:schemeClr val="tx1"/>
                          </a:solidFill>
                        </a:rPr>
                        <a:t> και αποδέσμευση μνήμης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84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Υλοποίηση βιβλιοθήκης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523998" y="1042209"/>
            <a:ext cx="9144000" cy="4870911"/>
          </a:xfrm>
        </p:spPr>
        <p:txBody>
          <a:bodyPr>
            <a:normAutofit lnSpcReduction="10000"/>
          </a:bodyPr>
          <a:lstStyle/>
          <a:p>
            <a:pPr algn="l"/>
            <a:r>
              <a:rPr lang="el-GR" sz="1800" dirty="0" smtClean="0"/>
              <a:t>Η βιβλιοθήκη μας λειτουργεί εσωτερικά με βάση πίνακες που αποθηκεύουν δεδομένα για τον κάθε αγωγό. Τα δεδομένα αυτά είναι:</a:t>
            </a:r>
            <a:endParaRPr lang="en-US" sz="1800" dirty="0" smtClean="0"/>
          </a:p>
          <a:p>
            <a:pPr algn="l"/>
            <a:endParaRPr lang="el-GR" sz="18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Αν ο αγωγός υπάρχει (Το </a:t>
            </a:r>
            <a:r>
              <a:rPr lang="en-US" sz="1800" dirty="0" smtClean="0"/>
              <a:t>id </a:t>
            </a:r>
            <a:r>
              <a:rPr lang="el-GR" sz="1800" dirty="0" smtClean="0"/>
              <a:t>του αν υπάρχει, -1 αν δεν υπάρχει)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Αν ο αγωγός είναι ανοιχτός (</a:t>
            </a:r>
            <a:r>
              <a:rPr lang="en-US" sz="1800" dirty="0" smtClean="0"/>
              <a:t>1 </a:t>
            </a:r>
            <a:r>
              <a:rPr lang="el-GR" sz="1800" dirty="0" smtClean="0"/>
              <a:t>ή 0)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Αν κάποιο </a:t>
            </a:r>
            <a:r>
              <a:rPr lang="en-US" sz="1800" dirty="0" smtClean="0"/>
              <a:t>thread </a:t>
            </a:r>
            <a:r>
              <a:rPr lang="el-GR" sz="1800" dirty="0" smtClean="0"/>
              <a:t>επιθυμεί γράψιμο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Αν κάποιο </a:t>
            </a:r>
            <a:r>
              <a:rPr lang="en-US" sz="1800" dirty="0" smtClean="0"/>
              <a:t>thread </a:t>
            </a:r>
            <a:r>
              <a:rPr lang="el-GR" sz="1800" dirty="0" smtClean="0"/>
              <a:t>επιθυμεί διάβασμα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Η τιμή της μεταβλητής </a:t>
            </a:r>
            <a:r>
              <a:rPr lang="en-US" sz="1800" dirty="0" smtClean="0"/>
              <a:t>turn (</a:t>
            </a:r>
            <a:r>
              <a:rPr lang="el-GR" sz="1800" dirty="0" smtClean="0"/>
              <a:t>σειρά του </a:t>
            </a:r>
            <a:r>
              <a:rPr lang="en-US" sz="1800" dirty="0" smtClean="0"/>
              <a:t>thread </a:t>
            </a:r>
            <a:r>
              <a:rPr lang="el-GR" sz="1800" dirty="0" smtClean="0"/>
              <a:t>για διάβασμα ή γράψιμο, με βάση τον αλγόριθμο </a:t>
            </a:r>
            <a:r>
              <a:rPr lang="en-US" sz="1800" dirty="0" smtClean="0"/>
              <a:t>Peterson)</a:t>
            </a:r>
            <a:endParaRPr lang="el-GR" sz="18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Οι διευθύνσεις των εσωτερικών </a:t>
            </a:r>
            <a:r>
              <a:rPr lang="en-US" sz="1800" dirty="0" smtClean="0"/>
              <a:t>buffers </a:t>
            </a:r>
            <a:r>
              <a:rPr lang="el-GR" sz="1800" dirty="0" smtClean="0"/>
              <a:t>ενός αγωγού, αν αυτός έχει δημιουργηθεί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Το συνολικό πλήθος αγωγών που έχουμε δημιουργήσει</a:t>
            </a:r>
            <a:endParaRPr lang="en-US" sz="18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l"/>
            <a:r>
              <a:rPr lang="el-GR" sz="1800" dirty="0" smtClean="0"/>
              <a:t>Η υλοποίηση λειτουργεί σωστά με αυτά τα δεδομένα καθώς έχουμε τον περιορισμό του </a:t>
            </a:r>
            <a:r>
              <a:rPr lang="en-US" sz="1800" dirty="0" smtClean="0"/>
              <a:t>specification </a:t>
            </a:r>
            <a:r>
              <a:rPr lang="el-GR" sz="1800" dirty="0" smtClean="0"/>
              <a:t>ότι μόνο ένα </a:t>
            </a:r>
            <a:r>
              <a:rPr lang="en-US" sz="1800" dirty="0" smtClean="0"/>
              <a:t>thread </a:t>
            </a:r>
            <a:r>
              <a:rPr lang="el-GR" sz="1800" dirty="0" smtClean="0"/>
              <a:t>γράφει και μόνο ένα </a:t>
            </a:r>
            <a:r>
              <a:rPr lang="en-US" sz="1800" dirty="0" smtClean="0"/>
              <a:t>thread </a:t>
            </a:r>
            <a:r>
              <a:rPr lang="el-GR" sz="1800" dirty="0" smtClean="0"/>
              <a:t>διαβάζει έναν αγωγό κάθε στιγμή.</a:t>
            </a:r>
            <a:endParaRPr lang="en-US" sz="18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l-GR" sz="1800" dirty="0" smtClean="0"/>
          </a:p>
        </p:txBody>
      </p:sp>
    </p:spTree>
    <p:extLst>
      <p:ext uri="{BB962C8B-B14F-4D97-AF65-F5344CB8AC3E}">
        <p14:creationId xmlns:p14="http://schemas.microsoft.com/office/powerpoint/2010/main" val="415342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Testbenches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523998" y="1308909"/>
            <a:ext cx="9144000" cy="4604211"/>
          </a:xfrm>
        </p:spPr>
        <p:txBody>
          <a:bodyPr>
            <a:normAutofit lnSpcReduction="10000"/>
          </a:bodyPr>
          <a:lstStyle/>
          <a:p>
            <a:pPr algn="l"/>
            <a:r>
              <a:rPr lang="el-GR" sz="1800" dirty="0" smtClean="0"/>
              <a:t>Έχουμε δημιουργήσει δύο </a:t>
            </a:r>
            <a:r>
              <a:rPr lang="en-US" sz="1800" dirty="0" err="1" smtClean="0"/>
              <a:t>testbenches</a:t>
            </a:r>
            <a:r>
              <a:rPr lang="en-US" sz="1800" dirty="0" smtClean="0"/>
              <a:t> </a:t>
            </a:r>
            <a:r>
              <a:rPr lang="el-GR" sz="1800" dirty="0" smtClean="0"/>
              <a:t>με διαφορετικούς στόχους, για τη δοκιμή της λειτουργικότητας της βιβλιοθήκης αγωγών.</a:t>
            </a:r>
            <a:r>
              <a:rPr lang="en-US" sz="1800" dirty="0" smtClean="0"/>
              <a:t> ($ make </a:t>
            </a:r>
            <a:r>
              <a:rPr lang="el-GR" sz="1800" dirty="0" smtClean="0"/>
              <a:t>για να δημιουργηθούν και τα δύο)</a:t>
            </a:r>
            <a:endParaRPr lang="en-US" sz="1800" dirty="0" smtClean="0"/>
          </a:p>
          <a:p>
            <a:pPr algn="l"/>
            <a:endParaRPr lang="el-GR" sz="1400" dirty="0"/>
          </a:p>
          <a:p>
            <a:pPr algn="l"/>
            <a:r>
              <a:rPr lang="en-US" sz="1800" dirty="0" smtClean="0"/>
              <a:t>./main (Source: </a:t>
            </a:r>
            <a:r>
              <a:rPr lang="en-US" sz="1800" dirty="0" err="1" smtClean="0"/>
              <a:t>main.c</a:t>
            </a:r>
            <a:r>
              <a:rPr lang="en-US" sz="1800" dirty="0" smtClean="0"/>
              <a:t>): </a:t>
            </a:r>
            <a:r>
              <a:rPr lang="en-US" sz="1800" dirty="0" err="1" smtClean="0"/>
              <a:t>Testbench</a:t>
            </a:r>
            <a:r>
              <a:rPr lang="en-US" sz="1800" dirty="0" smtClean="0"/>
              <a:t> </a:t>
            </a:r>
            <a:r>
              <a:rPr lang="el-GR" sz="1800" dirty="0" smtClean="0"/>
              <a:t>που περιγράφεται στο </a:t>
            </a:r>
            <a:r>
              <a:rPr lang="en-US" sz="1800" dirty="0" smtClean="0"/>
              <a:t>cp_assignments_1.pdf</a:t>
            </a:r>
          </a:p>
          <a:p>
            <a:pPr algn="l"/>
            <a:r>
              <a:rPr lang="el-GR" sz="1800" dirty="0" smtClean="0"/>
              <a:t>Δημιουργία δύο αγωγών 64 </a:t>
            </a:r>
            <a:r>
              <a:rPr lang="en-US" sz="1800" dirty="0" smtClean="0"/>
              <a:t>byte, </a:t>
            </a:r>
            <a:r>
              <a:rPr lang="el-GR" sz="1800" dirty="0" smtClean="0"/>
              <a:t>«αποστολή» ενός αρχείου </a:t>
            </a:r>
            <a:r>
              <a:rPr lang="en-US" sz="1800" dirty="0" smtClean="0"/>
              <a:t>(input1) </a:t>
            </a:r>
            <a:r>
              <a:rPr lang="el-GR" sz="1800" dirty="0" smtClean="0"/>
              <a:t>από ένα </a:t>
            </a:r>
            <a:r>
              <a:rPr lang="en-US" sz="1800" dirty="0" smtClean="0"/>
              <a:t>thread </a:t>
            </a:r>
            <a:r>
              <a:rPr lang="el-GR" sz="1800" dirty="0" smtClean="0"/>
              <a:t>μέσω ενός αγωγού </a:t>
            </a:r>
            <a:r>
              <a:rPr lang="en-US" sz="1800" dirty="0" smtClean="0"/>
              <a:t>(p1) </a:t>
            </a:r>
            <a:r>
              <a:rPr lang="el-GR" sz="1800" dirty="0" smtClean="0"/>
              <a:t>και «παραλαβή» του αρχείου από το άλλο </a:t>
            </a:r>
            <a:r>
              <a:rPr lang="en-US" sz="1800" dirty="0" smtClean="0"/>
              <a:t>thread. </a:t>
            </a:r>
            <a:r>
              <a:rPr lang="el-GR" sz="1800" dirty="0" smtClean="0"/>
              <a:t>Το </a:t>
            </a:r>
            <a:r>
              <a:rPr lang="en-US" sz="1800" dirty="0" smtClean="0"/>
              <a:t>thread 2 </a:t>
            </a:r>
            <a:r>
              <a:rPr lang="el-GR" sz="1800" dirty="0" smtClean="0"/>
              <a:t>αποθηκεύει το αρχείο σε αντίγραφο</a:t>
            </a:r>
            <a:r>
              <a:rPr lang="en-US" sz="1800" dirty="0" smtClean="0"/>
              <a:t> (output1).</a:t>
            </a:r>
          </a:p>
          <a:p>
            <a:pPr algn="l"/>
            <a:r>
              <a:rPr lang="el-GR" sz="1800" dirty="0" smtClean="0"/>
              <a:t>Στη συνέχεια, μεταφορά του ίδιου αρχείου προς την ακριβώς αντίθετη κατεύθυνση μέσω ενός δεύτερου αγωγού</a:t>
            </a:r>
            <a:r>
              <a:rPr lang="en-US" sz="1800" dirty="0" smtClean="0"/>
              <a:t> (p2) </a:t>
            </a:r>
            <a:r>
              <a:rPr lang="el-GR" sz="1800" dirty="0" smtClean="0"/>
              <a:t>και αποθήκευση ενός δεύτερου αντιγράφου</a:t>
            </a:r>
            <a:r>
              <a:rPr lang="en-US" sz="1800" dirty="0" smtClean="0"/>
              <a:t> (output2).</a:t>
            </a:r>
          </a:p>
          <a:p>
            <a:pPr algn="l"/>
            <a:endParaRPr lang="en-US" sz="1400" dirty="0"/>
          </a:p>
          <a:p>
            <a:pPr algn="l"/>
            <a:r>
              <a:rPr lang="en-US" sz="1800" dirty="0" smtClean="0"/>
              <a:t>./main2 (Source: main2.c): </a:t>
            </a:r>
            <a:r>
              <a:rPr lang="en-US" sz="1800" dirty="0" err="1" smtClean="0"/>
              <a:t>Testbench</a:t>
            </a:r>
            <a:r>
              <a:rPr lang="en-US" sz="1800" dirty="0" smtClean="0"/>
              <a:t> </a:t>
            </a:r>
            <a:r>
              <a:rPr lang="el-GR" sz="1800" dirty="0" smtClean="0"/>
              <a:t>με 5 αγωγούς που λειτουργούν ταυτόχρονα.</a:t>
            </a:r>
          </a:p>
          <a:p>
            <a:pPr algn="l"/>
            <a:r>
              <a:rPr lang="el-GR" sz="1800" dirty="0" smtClean="0"/>
              <a:t>Δημιουργία 10 </a:t>
            </a:r>
            <a:r>
              <a:rPr lang="en-US" sz="1800" dirty="0" smtClean="0"/>
              <a:t>threads, </a:t>
            </a:r>
            <a:r>
              <a:rPr lang="el-GR" sz="1800" dirty="0" smtClean="0"/>
              <a:t>τα 5 γράφουν σε 5 αγωγούς και τα υπόλοιπα διαβάζουν από τους αντίστοιχους αγωγούς. Ως αποτέλεσμα, 5 αρχεία </a:t>
            </a:r>
            <a:r>
              <a:rPr lang="en-US" sz="1800" dirty="0" smtClean="0"/>
              <a:t>input</a:t>
            </a:r>
            <a:r>
              <a:rPr lang="el-GR" sz="1800" dirty="0"/>
              <a:t> </a:t>
            </a:r>
            <a:r>
              <a:rPr lang="el-GR" sz="1800" dirty="0" smtClean="0"/>
              <a:t>«αντιγράφονται» σε 5 αρχεία </a:t>
            </a:r>
            <a:r>
              <a:rPr lang="en-US" sz="1800" dirty="0" smtClean="0"/>
              <a:t>output.</a:t>
            </a:r>
          </a:p>
          <a:p>
            <a:pPr algn="l"/>
            <a:endParaRPr lang="en-US" sz="1400" dirty="0" smtClean="0"/>
          </a:p>
          <a:p>
            <a:pPr algn="l"/>
            <a:r>
              <a:rPr lang="el-GR" sz="1800" dirty="0" smtClean="0">
                <a:solidFill>
                  <a:srgbClr val="800000"/>
                </a:solidFill>
              </a:rPr>
              <a:t>Σημ.: </a:t>
            </a:r>
            <a:r>
              <a:rPr lang="el-GR" sz="1800" dirty="0" smtClean="0">
                <a:solidFill>
                  <a:srgbClr val="800000"/>
                </a:solidFill>
              </a:rPr>
              <a:t>Τα αρχεία </a:t>
            </a:r>
            <a:r>
              <a:rPr lang="el-GR" sz="1800" dirty="0" smtClean="0">
                <a:solidFill>
                  <a:srgbClr val="800000"/>
                </a:solidFill>
              </a:rPr>
              <a:t>εισόδου </a:t>
            </a:r>
            <a:r>
              <a:rPr lang="el-GR" sz="1800" dirty="0" smtClean="0">
                <a:solidFill>
                  <a:srgbClr val="800000"/>
                </a:solidFill>
              </a:rPr>
              <a:t>και εξόδου σε </a:t>
            </a:r>
            <a:r>
              <a:rPr lang="el-GR" sz="1800" dirty="0" smtClean="0">
                <a:solidFill>
                  <a:srgbClr val="800000"/>
                </a:solidFill>
              </a:rPr>
              <a:t>κάθε περίπτωση πρέπει να υπάρχουν ήδη πριν την έναρξη του </a:t>
            </a:r>
            <a:r>
              <a:rPr lang="en-US" sz="1800" dirty="0" err="1" smtClean="0">
                <a:solidFill>
                  <a:srgbClr val="800000"/>
                </a:solidFill>
              </a:rPr>
              <a:t>testbench</a:t>
            </a:r>
            <a:r>
              <a:rPr lang="en-US" sz="1800" dirty="0" smtClean="0">
                <a:solidFill>
                  <a:srgbClr val="800000"/>
                </a:solidFill>
              </a:rPr>
              <a:t>.</a:t>
            </a:r>
            <a:endParaRPr lang="el-GR" sz="1800" dirty="0" smtClean="0"/>
          </a:p>
          <a:p>
            <a:pPr algn="l"/>
            <a:endParaRPr lang="en-US" sz="18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l-GR" sz="1800" dirty="0" smtClean="0"/>
          </a:p>
        </p:txBody>
      </p:sp>
    </p:spTree>
    <p:extLst>
      <p:ext uri="{BB962C8B-B14F-4D97-AF65-F5344CB8AC3E}">
        <p14:creationId xmlns:p14="http://schemas.microsoft.com/office/powerpoint/2010/main" val="2868361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Testbenches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523998" y="1415589"/>
            <a:ext cx="9144000" cy="312593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Τα </a:t>
            </a:r>
            <a:r>
              <a:rPr lang="en-US" sz="1800" dirty="0" err="1" smtClean="0"/>
              <a:t>testbenches</a:t>
            </a:r>
            <a:r>
              <a:rPr lang="en-US" sz="1800" dirty="0" smtClean="0"/>
              <a:t> </a:t>
            </a:r>
            <a:r>
              <a:rPr lang="el-GR" sz="1800" dirty="0" smtClean="0"/>
              <a:t>εκτυπώνουν παραπάνω πληροφορίες για τη λειτουργία των </a:t>
            </a:r>
            <a:r>
              <a:rPr lang="en-US" sz="1800" dirty="0" smtClean="0"/>
              <a:t>threads (</a:t>
            </a:r>
            <a:r>
              <a:rPr lang="el-GR" sz="1800" dirty="0" smtClean="0"/>
              <a:t>πότε ένα </a:t>
            </a:r>
            <a:r>
              <a:rPr lang="en-US" sz="1800" dirty="0" smtClean="0"/>
              <a:t>thread </a:t>
            </a:r>
            <a:r>
              <a:rPr lang="el-GR" sz="1800" dirty="0" smtClean="0"/>
              <a:t>ξεκινά/σταματά, κ.λπ.)</a:t>
            </a:r>
            <a:endParaRPr lang="en-US" sz="1800" dirty="0"/>
          </a:p>
          <a:p>
            <a:pPr algn="l"/>
            <a:endParaRPr lang="el-GR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Η λειτουργία δοκιμάστηκε με αρχεία διαφόρων μεγεθών (από μερικά </a:t>
            </a:r>
            <a:r>
              <a:rPr lang="en-US" sz="1800" dirty="0" smtClean="0"/>
              <a:t>KB </a:t>
            </a:r>
            <a:r>
              <a:rPr lang="el-GR" sz="1800" dirty="0" smtClean="0"/>
              <a:t>έως και </a:t>
            </a:r>
            <a:r>
              <a:rPr lang="en-US" sz="1800" dirty="0" smtClean="0"/>
              <a:t>5.3 MB), </a:t>
            </a:r>
            <a:r>
              <a:rPr lang="el-GR" sz="1800" dirty="0" smtClean="0"/>
              <a:t>ώστε να διαπιστωθεί ότι οι πληροφορίες γράφονται σωστά μέσω των </a:t>
            </a:r>
            <a:r>
              <a:rPr lang="en-US" sz="1800" dirty="0" smtClean="0"/>
              <a:t>pipes.</a:t>
            </a:r>
            <a:endParaRPr lang="el-GR" sz="18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Πρέπει να κληθεί η </a:t>
            </a:r>
            <a:r>
              <a:rPr lang="en-US" sz="1800" dirty="0" err="1" smtClean="0"/>
              <a:t>pipe_init</a:t>
            </a:r>
            <a:r>
              <a:rPr lang="en-US" sz="1800" dirty="0" smtClean="0"/>
              <a:t>() </a:t>
            </a:r>
            <a:r>
              <a:rPr lang="el-GR" sz="1800" dirty="0" smtClean="0"/>
              <a:t>πριν τη δημιουργία αγωγών!</a:t>
            </a:r>
            <a:endParaRPr lang="el-GR" sz="18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l-GR" sz="1800" dirty="0"/>
          </a:p>
        </p:txBody>
      </p:sp>
    </p:spTree>
    <p:extLst>
      <p:ext uri="{BB962C8B-B14F-4D97-AF65-F5344CB8AC3E}">
        <p14:creationId xmlns:p14="http://schemas.microsoft.com/office/powerpoint/2010/main" val="4179579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thread-safe pipe implementation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3999" y="111760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11" name="Υπότιτλος 2"/>
          <p:cNvSpPr txBox="1">
            <a:spLocks/>
          </p:cNvSpPr>
          <p:nvPr/>
        </p:nvSpPr>
        <p:spPr>
          <a:xfrm>
            <a:off x="3480431" y="3516658"/>
            <a:ext cx="5231133" cy="56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/>
              <a:t>Thanks for your time!</a:t>
            </a:r>
            <a:endParaRPr lang="el-GR" sz="3200" dirty="0"/>
          </a:p>
        </p:txBody>
      </p:sp>
    </p:spTree>
    <p:extLst>
      <p:ext uri="{BB962C8B-B14F-4D97-AF65-F5344CB8AC3E}">
        <p14:creationId xmlns:p14="http://schemas.microsoft.com/office/powerpoint/2010/main" val="3262705055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626</Words>
  <Application>Microsoft Office PowerPoint</Application>
  <PresentationFormat>Ευρεία οθόνη</PresentationFormat>
  <Paragraphs>82</Paragraphs>
  <Slides>7</Slides>
  <Notes>7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Θέμα του Office</vt:lpstr>
      <vt:lpstr>A thread-safe pipe implementation</vt:lpstr>
      <vt:lpstr>Αποφυγή των Race Conditions</vt:lpstr>
      <vt:lpstr>Συναρτήσεις βιβλιοθήκης</vt:lpstr>
      <vt:lpstr>Υλοποίηση βιβλιοθήκης</vt:lpstr>
      <vt:lpstr>Testbenches</vt:lpstr>
      <vt:lpstr>Testbenches</vt:lpstr>
      <vt:lpstr>A thread-safe pipe implementation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thread-safe pipe implementation</dc:title>
  <dc:creator>evan</dc:creator>
  <cp:lastModifiedBy>evan</cp:lastModifiedBy>
  <cp:revision>19</cp:revision>
  <dcterms:created xsi:type="dcterms:W3CDTF">2021-11-01T11:33:56Z</dcterms:created>
  <dcterms:modified xsi:type="dcterms:W3CDTF">2021-11-03T13:13:50Z</dcterms:modified>
</cp:coreProperties>
</file>