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61" r:id="rId4"/>
    <p:sldId id="262" r:id="rId5"/>
    <p:sldId id="263" r:id="rId6"/>
    <p:sldId id="265" r:id="rId7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Μεσαίο στυλ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61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C0D5-E1F5-481E-9596-330DB891AFA2}" type="datetimeFigureOut">
              <a:rPr lang="el-GR" smtClean="0"/>
              <a:t>22/01/2022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0A052-7942-41CF-B178-D636C489F9C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4268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25999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2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891438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3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824166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4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868693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5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332521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6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639775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 smtClean="0"/>
              <a:t>Στυλ κύριου υπότιτλου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D64B-0F15-4039-8FBC-72B45DC644A7}" type="datetime1">
              <a:rPr lang="el-GR" smtClean="0"/>
              <a:t>22/01/2022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6220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A996-A19B-4BDD-A82C-AB08C8E38545}" type="datetime1">
              <a:rPr lang="el-GR" smtClean="0"/>
              <a:t>22/01/2022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929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4F0F1-95E1-4D7E-B2B4-E3024FFE3E67}" type="datetime1">
              <a:rPr lang="el-GR" smtClean="0"/>
              <a:t>22/01/2022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8386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A38B7-B1B5-492F-8AE5-DA4F3996A54C}" type="datetime1">
              <a:rPr lang="el-GR" smtClean="0"/>
              <a:t>22/01/2022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5845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D118C-8210-4532-ACDD-520B2862F8DC}" type="datetime1">
              <a:rPr lang="el-GR" smtClean="0"/>
              <a:t>22/01/2022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529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4A3F-8F91-4092-AD6D-5981F420888C}" type="datetime1">
              <a:rPr lang="el-GR" smtClean="0"/>
              <a:t>22/01/2022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4155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54BBB-9B88-4C2A-99DC-6177C00EE0F1}" type="datetime1">
              <a:rPr lang="el-GR" smtClean="0"/>
              <a:t>22/01/2022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8815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236A0-F61F-4AEF-980A-7EA8613CC92E}" type="datetime1">
              <a:rPr lang="el-GR" smtClean="0"/>
              <a:t>22/01/2022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3455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AA5A8-D45B-4F9D-9132-15C5B3A1F61B}" type="datetime1">
              <a:rPr lang="el-GR" smtClean="0"/>
              <a:t>22/01/2022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101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98249-7372-42C7-B177-5B4F7B050731}" type="datetime1">
              <a:rPr lang="el-GR" smtClean="0"/>
              <a:t>22/01/2022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8363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DA62-E08B-49AC-BE9B-042B458506FD}" type="datetime1">
              <a:rPr lang="el-GR" smtClean="0"/>
              <a:t>22/01/2022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369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D8AF-4072-45F5-8FAB-F082D1787B4C}" type="datetime1">
              <a:rPr lang="el-GR" smtClean="0"/>
              <a:t>22/01/2022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992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131" y="1509680"/>
            <a:ext cx="10289309" cy="1607508"/>
          </a:xfrm>
        </p:spPr>
        <p:txBody>
          <a:bodyPr>
            <a:normAutofit/>
          </a:bodyPr>
          <a:lstStyle/>
          <a:p>
            <a:r>
              <a:rPr lang="en-US" dirty="0" err="1" smtClean="0"/>
              <a:t>Coroutines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17649" y="3257550"/>
            <a:ext cx="9144000" cy="692727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71325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API </a:t>
            </a:r>
            <a:r>
              <a:rPr lang="el-GR" dirty="0" smtClean="0"/>
              <a:t>βιβλιοθήκης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788981" y="1026010"/>
            <a:ext cx="9144000" cy="464936"/>
          </a:xfrm>
        </p:spPr>
        <p:txBody>
          <a:bodyPr>
            <a:normAutofit/>
          </a:bodyPr>
          <a:lstStyle/>
          <a:p>
            <a:pPr algn="l"/>
            <a:r>
              <a:rPr lang="en-US" sz="2000" dirty="0" smtClean="0"/>
              <a:t>H </a:t>
            </a:r>
            <a:r>
              <a:rPr lang="el-GR" sz="2000" dirty="0" smtClean="0"/>
              <a:t>βιβλιοθήκη περιέχει τις εξής συναρτήσεις </a:t>
            </a:r>
            <a:r>
              <a:rPr lang="el-GR" sz="2000" dirty="0" err="1" smtClean="0"/>
              <a:t>διεπαφής</a:t>
            </a:r>
            <a:r>
              <a:rPr lang="el-GR" sz="2000" dirty="0" smtClean="0"/>
              <a:t>:</a:t>
            </a:r>
            <a:endParaRPr lang="el-GR" sz="2000" dirty="0" smtClean="0"/>
          </a:p>
        </p:txBody>
      </p:sp>
      <p:graphicFrame>
        <p:nvGraphicFramePr>
          <p:cNvPr id="8" name="Πίνακας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312663"/>
              </p:ext>
            </p:extLst>
          </p:nvPr>
        </p:nvGraphicFramePr>
        <p:xfrm>
          <a:off x="1716402" y="1861756"/>
          <a:ext cx="8759192" cy="389342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358642"/>
                <a:gridCol w="4400550"/>
              </a:tblGrid>
              <a:tr h="606816">
                <a:tc>
                  <a:txBody>
                    <a:bodyPr/>
                    <a:lstStyle/>
                    <a:p>
                      <a:pPr algn="ctr"/>
                      <a:r>
                        <a:rPr lang="el-GR" sz="1600" b="1" dirty="0" smtClean="0">
                          <a:solidFill>
                            <a:schemeClr val="tx1"/>
                          </a:solidFill>
                        </a:rPr>
                        <a:t>Συνάρτηση</a:t>
                      </a:r>
                      <a:r>
                        <a:rPr lang="en-US" sz="1600" b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l-G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b="1" dirty="0" smtClean="0">
                          <a:solidFill>
                            <a:schemeClr val="tx1"/>
                          </a:solidFill>
                        </a:rPr>
                        <a:t>Χρήση</a:t>
                      </a:r>
                      <a:endParaRPr lang="el-G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549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mycoroutines_init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co_t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*main);</a:t>
                      </a:r>
                      <a:endParaRPr lang="el-GR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 smtClean="0"/>
                        <a:t>Αρχικοποίηση κύριας </a:t>
                      </a:r>
                      <a:r>
                        <a:rPr lang="el-GR" sz="1600" dirty="0" err="1" smtClean="0"/>
                        <a:t>κορουτίνας</a:t>
                      </a:r>
                      <a:r>
                        <a:rPr lang="en-US" sz="1600" baseline="0" dirty="0" smtClean="0"/>
                        <a:t> (main)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680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mycoroutines_create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co_t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*co, void (body)(void *), void *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);</a:t>
                      </a:r>
                      <a:endParaRPr lang="el-GR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 smtClean="0"/>
                        <a:t>Δημιουργία νέας </a:t>
                      </a:r>
                      <a:r>
                        <a:rPr lang="el-GR" sz="1600" dirty="0" err="1" smtClean="0"/>
                        <a:t>κορουτίνας</a:t>
                      </a:r>
                      <a:r>
                        <a:rPr lang="en-US" sz="1600" dirty="0" smtClean="0"/>
                        <a:t> </a:t>
                      </a:r>
                      <a:r>
                        <a:rPr lang="el-GR" sz="1600" dirty="0" smtClean="0"/>
                        <a:t>που</a:t>
                      </a:r>
                      <a:r>
                        <a:rPr lang="el-GR" sz="1600" baseline="0" dirty="0" smtClean="0"/>
                        <a:t> «τρέχει» τη συνάρτηση </a:t>
                      </a:r>
                      <a:r>
                        <a:rPr lang="en-US" sz="1600" baseline="0" dirty="0" smtClean="0"/>
                        <a:t>body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955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mycoroutines_switchto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co_t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*co);</a:t>
                      </a:r>
                      <a:endParaRPr lang="el-GR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 smtClean="0"/>
                        <a:t>Εναλλαγή σε άλλη </a:t>
                      </a:r>
                      <a:r>
                        <a:rPr lang="el-GR" sz="1600" dirty="0" err="1" smtClean="0"/>
                        <a:t>κορουτίνα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680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mycoroutines_destroy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co_t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*co); </a:t>
                      </a:r>
                      <a:endParaRPr lang="el-GR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 smtClean="0"/>
                        <a:t>Καταστροφή </a:t>
                      </a:r>
                      <a:r>
                        <a:rPr lang="el-GR" sz="1600" dirty="0" err="1" smtClean="0"/>
                        <a:t>κορουτίνας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3425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API </a:t>
            </a:r>
            <a:r>
              <a:rPr lang="el-GR" dirty="0" smtClean="0"/>
              <a:t>βιβλιοθήκης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788981" y="1026010"/>
            <a:ext cx="9144000" cy="464936"/>
          </a:xfrm>
        </p:spPr>
        <p:txBody>
          <a:bodyPr>
            <a:normAutofit/>
          </a:bodyPr>
          <a:lstStyle/>
          <a:p>
            <a:pPr algn="l"/>
            <a:r>
              <a:rPr lang="el-GR" sz="2000" dirty="0" smtClean="0"/>
              <a:t>Συνάρτηση</a:t>
            </a:r>
            <a:r>
              <a:rPr lang="en-US" sz="2000" dirty="0" smtClean="0"/>
              <a:t> </a:t>
            </a:r>
            <a:r>
              <a:rPr lang="en-US" sz="2000" dirty="0" err="1" smtClean="0"/>
              <a:t>Init</a:t>
            </a:r>
            <a:r>
              <a:rPr lang="en-US" sz="2000" dirty="0" smtClean="0"/>
              <a:t>:</a:t>
            </a:r>
            <a:endParaRPr lang="el-GR" sz="20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2036131" y="1635340"/>
            <a:ext cx="8119734" cy="3970318"/>
          </a:xfrm>
          <a:prstGeom prst="rect">
            <a:avLst/>
          </a:prstGeom>
          <a:solidFill>
            <a:srgbClr val="333333"/>
          </a:solidFill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877FE0"/>
                </a:solidFill>
                <a:latin typeface="Attribute Mono" panose="020B0509020204030204" pitchFamily="49" charset="0"/>
              </a:rPr>
              <a:t>int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>
                <a:solidFill>
                  <a:srgbClr val="E2A46E"/>
                </a:solidFill>
                <a:latin typeface="Attribute Mono" panose="020B0509020204030204" pitchFamily="49" charset="0"/>
              </a:rPr>
              <a:t>mycoroutines_init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>
                <a:solidFill>
                  <a:srgbClr val="47A9F0"/>
                </a:solidFill>
                <a:latin typeface="Attribute Mono" panose="020B0509020204030204" pitchFamily="49" charset="0"/>
              </a:rPr>
              <a:t>co_t</a:t>
            </a:r>
            <a:r>
              <a:rPr lang="en-US">
                <a:solidFill>
                  <a:srgbClr val="0EC086"/>
                </a:solidFill>
                <a:latin typeface="Attribute Mono" panose="020B0509020204030204" pitchFamily="49" charset="0"/>
              </a:rPr>
              <a:t> </a:t>
            </a:r>
            <a:r>
              <a:rPr lang="en-US">
                <a:solidFill>
                  <a:srgbClr val="877FE0"/>
                </a:solidFill>
                <a:latin typeface="Attribute Mono" panose="020B0509020204030204" pitchFamily="49" charset="0"/>
              </a:rPr>
              <a:t>*</a:t>
            </a:r>
            <a:r>
              <a:rPr lang="en-US" i="1">
                <a:solidFill>
                  <a:srgbClr val="0EC086"/>
                </a:solidFill>
                <a:latin typeface="Attribute Mono" panose="020B0509020204030204" pitchFamily="49" charset="0"/>
              </a:rPr>
              <a:t>main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)</a:t>
            </a:r>
          </a:p>
          <a:p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{</a:t>
            </a:r>
          </a:p>
          <a:p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 i="1">
                <a:solidFill>
                  <a:srgbClr val="0EC086"/>
                </a:solidFill>
                <a:latin typeface="Attribute Mono" panose="020B0509020204030204" pitchFamily="49" charset="0"/>
              </a:rPr>
              <a:t>main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>
                <a:solidFill>
                  <a:srgbClr val="0EC086"/>
                </a:solidFill>
                <a:latin typeface="Attribute Mono" panose="020B0509020204030204" pitchFamily="49" charset="0"/>
              </a:rPr>
              <a:t>ctx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>
                <a:solidFill>
                  <a:srgbClr val="877FE0"/>
                </a:solidFill>
                <a:latin typeface="Attribute Mono" panose="020B0509020204030204" pitchFamily="49" charset="0"/>
              </a:rPr>
              <a:t>=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 (</a:t>
            </a:r>
            <a:r>
              <a:rPr lang="en-US">
                <a:solidFill>
                  <a:srgbClr val="47A9F0"/>
                </a:solidFill>
                <a:latin typeface="Attribute Mono" panose="020B0509020204030204" pitchFamily="49" charset="0"/>
              </a:rPr>
              <a:t>ucontext_t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>
                <a:solidFill>
                  <a:srgbClr val="877FE0"/>
                </a:solidFill>
                <a:latin typeface="Attribute Mono" panose="020B0509020204030204" pitchFamily="49" charset="0"/>
              </a:rPr>
              <a:t>*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) </a:t>
            </a:r>
            <a:r>
              <a:rPr lang="en-US">
                <a:solidFill>
                  <a:srgbClr val="E2A46E"/>
                </a:solidFill>
                <a:latin typeface="Attribute Mono" panose="020B0509020204030204" pitchFamily="49" charset="0"/>
              </a:rPr>
              <a:t>malloc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>
                <a:solidFill>
                  <a:srgbClr val="877FE0"/>
                </a:solidFill>
                <a:latin typeface="Attribute Mono" panose="020B0509020204030204" pitchFamily="49" charset="0"/>
              </a:rPr>
              <a:t>sizeof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>
                <a:solidFill>
                  <a:srgbClr val="47A9F0"/>
                </a:solidFill>
                <a:latin typeface="Attribute Mono" panose="020B0509020204030204" pitchFamily="49" charset="0"/>
              </a:rPr>
              <a:t>ucontext_t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));</a:t>
            </a:r>
          </a:p>
          <a:p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>
                <a:solidFill>
                  <a:srgbClr val="877FE0"/>
                </a:solidFill>
                <a:latin typeface="Attribute Mono" panose="020B0509020204030204" pitchFamily="49" charset="0"/>
              </a:rPr>
              <a:t>if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>
                <a:solidFill>
                  <a:srgbClr val="5AB1BC"/>
                </a:solidFill>
                <a:latin typeface="Attribute Mono" panose="020B0509020204030204" pitchFamily="49" charset="0"/>
              </a:rPr>
              <a:t>!</a:t>
            </a:r>
            <a:r>
              <a:rPr lang="en-US" i="1">
                <a:solidFill>
                  <a:srgbClr val="0EC086"/>
                </a:solidFill>
                <a:latin typeface="Attribute Mono" panose="020B0509020204030204" pitchFamily="49" charset="0"/>
              </a:rPr>
              <a:t>main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>
                <a:solidFill>
                  <a:srgbClr val="0EC086"/>
                </a:solidFill>
                <a:latin typeface="Attribute Mono" panose="020B0509020204030204" pitchFamily="49" charset="0"/>
              </a:rPr>
              <a:t>ctx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)</a:t>
            </a:r>
          </a:p>
          <a:p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    {</a:t>
            </a:r>
          </a:p>
          <a:p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        </a:t>
            </a:r>
            <a:r>
              <a:rPr lang="en-US">
                <a:solidFill>
                  <a:srgbClr val="E2A46E"/>
                </a:solidFill>
                <a:latin typeface="Attribute Mono" panose="020B0509020204030204" pitchFamily="49" charset="0"/>
              </a:rPr>
              <a:t>PrintError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(__func__, </a:t>
            </a:r>
            <a:r>
              <a:rPr lang="en-US">
                <a:solidFill>
                  <a:srgbClr val="C1E06D"/>
                </a:solidFill>
                <a:latin typeface="Attribute Mono" panose="020B0509020204030204" pitchFamily="49" charset="0"/>
              </a:rPr>
              <a:t>"Malloc error"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);</a:t>
            </a:r>
          </a:p>
          <a:p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        </a:t>
            </a:r>
            <a:r>
              <a:rPr lang="en-US">
                <a:solidFill>
                  <a:srgbClr val="877FE0"/>
                </a:solidFill>
                <a:latin typeface="Attribute Mono" panose="020B0509020204030204" pitchFamily="49" charset="0"/>
              </a:rPr>
              <a:t>return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>
                <a:solidFill>
                  <a:srgbClr val="877FE0"/>
                </a:solidFill>
                <a:latin typeface="Attribute Mono" panose="020B0509020204030204" pitchFamily="49" charset="0"/>
              </a:rPr>
              <a:t>-</a:t>
            </a:r>
            <a:r>
              <a:rPr lang="en-US">
                <a:solidFill>
                  <a:srgbClr val="D96C6C"/>
                </a:solidFill>
                <a:latin typeface="Attribute Mono" panose="020B0509020204030204" pitchFamily="49" charset="0"/>
              </a:rPr>
              <a:t>1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;</a:t>
            </a:r>
          </a:p>
          <a:p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    }</a:t>
            </a:r>
          </a:p>
          <a:p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/>
            </a:r>
            <a:b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</a:b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>
                <a:solidFill>
                  <a:srgbClr val="E2A46E"/>
                </a:solidFill>
                <a:latin typeface="Attribute Mono" panose="020B0509020204030204" pitchFamily="49" charset="0"/>
              </a:rPr>
              <a:t>getcontext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 i="1">
                <a:solidFill>
                  <a:srgbClr val="0EC086"/>
                </a:solidFill>
                <a:latin typeface="Attribute Mono" panose="020B0509020204030204" pitchFamily="49" charset="0"/>
              </a:rPr>
              <a:t>main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>
                <a:solidFill>
                  <a:srgbClr val="0EC086"/>
                </a:solidFill>
                <a:latin typeface="Attribute Mono" panose="020B0509020204030204" pitchFamily="49" charset="0"/>
              </a:rPr>
              <a:t>ctx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);</a:t>
            </a:r>
          </a:p>
          <a:p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 i="1">
                <a:solidFill>
                  <a:srgbClr val="0EC086"/>
                </a:solidFill>
                <a:latin typeface="Attribute Mono" panose="020B0509020204030204" pitchFamily="49" charset="0"/>
              </a:rPr>
              <a:t>main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>
                <a:solidFill>
                  <a:srgbClr val="0EC086"/>
                </a:solidFill>
                <a:latin typeface="Attribute Mono" panose="020B0509020204030204" pitchFamily="49" charset="0"/>
              </a:rPr>
              <a:t>ctx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>
                <a:solidFill>
                  <a:srgbClr val="0EC086"/>
                </a:solidFill>
                <a:latin typeface="Attribute Mono" panose="020B0509020204030204" pitchFamily="49" charset="0"/>
              </a:rPr>
              <a:t>uc_stack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.</a:t>
            </a:r>
            <a:r>
              <a:rPr lang="en-US">
                <a:solidFill>
                  <a:srgbClr val="0EC086"/>
                </a:solidFill>
                <a:latin typeface="Attribute Mono" panose="020B0509020204030204" pitchFamily="49" charset="0"/>
              </a:rPr>
              <a:t>ss_sp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>
                <a:solidFill>
                  <a:srgbClr val="877FE0"/>
                </a:solidFill>
                <a:latin typeface="Attribute Mono" panose="020B0509020204030204" pitchFamily="49" charset="0"/>
              </a:rPr>
              <a:t>=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i="1">
                <a:solidFill>
                  <a:srgbClr val="0EC086"/>
                </a:solidFill>
                <a:latin typeface="Attribute Mono" panose="020B0509020204030204" pitchFamily="49" charset="0"/>
              </a:rPr>
              <a:t>main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>
                <a:solidFill>
                  <a:srgbClr val="0EC086"/>
                </a:solidFill>
                <a:latin typeface="Attribute Mono" panose="020B0509020204030204" pitchFamily="49" charset="0"/>
              </a:rPr>
              <a:t>stack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;</a:t>
            </a:r>
          </a:p>
          <a:p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 i="1">
                <a:solidFill>
                  <a:srgbClr val="0EC086"/>
                </a:solidFill>
                <a:latin typeface="Attribute Mono" panose="020B0509020204030204" pitchFamily="49" charset="0"/>
              </a:rPr>
              <a:t>main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>
                <a:solidFill>
                  <a:srgbClr val="0EC086"/>
                </a:solidFill>
                <a:latin typeface="Attribute Mono" panose="020B0509020204030204" pitchFamily="49" charset="0"/>
              </a:rPr>
              <a:t>ctx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>
                <a:solidFill>
                  <a:srgbClr val="0EC086"/>
                </a:solidFill>
                <a:latin typeface="Attribute Mono" panose="020B0509020204030204" pitchFamily="49" charset="0"/>
              </a:rPr>
              <a:t>uc_stack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.</a:t>
            </a:r>
            <a:r>
              <a:rPr lang="en-US">
                <a:solidFill>
                  <a:srgbClr val="0EC086"/>
                </a:solidFill>
                <a:latin typeface="Attribute Mono" panose="020B0509020204030204" pitchFamily="49" charset="0"/>
              </a:rPr>
              <a:t>ss_size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>
                <a:solidFill>
                  <a:srgbClr val="877FE0"/>
                </a:solidFill>
                <a:latin typeface="Attribute Mono" panose="020B0509020204030204" pitchFamily="49" charset="0"/>
              </a:rPr>
              <a:t>=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>
                <a:solidFill>
                  <a:srgbClr val="877FE0"/>
                </a:solidFill>
                <a:latin typeface="Attribute Mono" panose="020B0509020204030204" pitchFamily="49" charset="0"/>
              </a:rPr>
              <a:t>sizeof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 i="1">
                <a:solidFill>
                  <a:srgbClr val="0EC086"/>
                </a:solidFill>
                <a:latin typeface="Attribute Mono" panose="020B0509020204030204" pitchFamily="49" charset="0"/>
              </a:rPr>
              <a:t>main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>
                <a:solidFill>
                  <a:srgbClr val="0EC086"/>
                </a:solidFill>
                <a:latin typeface="Attribute Mono" panose="020B0509020204030204" pitchFamily="49" charset="0"/>
              </a:rPr>
              <a:t>stack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);</a:t>
            </a:r>
          </a:p>
          <a:p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>
                <a:solidFill>
                  <a:srgbClr val="877FE0"/>
                </a:solidFill>
                <a:latin typeface="Attribute Mono" panose="020B0509020204030204" pitchFamily="49" charset="0"/>
              </a:rPr>
              <a:t>return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>
                <a:solidFill>
                  <a:srgbClr val="D96C6C"/>
                </a:solidFill>
                <a:latin typeface="Attribute Mono" panose="020B0509020204030204" pitchFamily="49" charset="0"/>
              </a:rPr>
              <a:t>0</a:t>
            </a:r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;</a:t>
            </a:r>
          </a:p>
          <a:p>
            <a:r>
              <a:rPr lang="en-US">
                <a:solidFill>
                  <a:srgbClr val="B0B0B0"/>
                </a:solidFill>
                <a:latin typeface="Attribute Mono" panose="020B0509020204030204" pitchFamily="49" charset="0"/>
              </a:rPr>
              <a:t>}</a:t>
            </a:r>
            <a:endParaRPr lang="en-US" b="0">
              <a:solidFill>
                <a:srgbClr val="B0B0B0"/>
              </a:solidFill>
              <a:effectLst/>
              <a:latin typeface="Attribute Mono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99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API </a:t>
            </a:r>
            <a:r>
              <a:rPr lang="el-GR" dirty="0" smtClean="0"/>
              <a:t>βιβλιοθήκης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788981" y="1026010"/>
            <a:ext cx="9144000" cy="464936"/>
          </a:xfrm>
        </p:spPr>
        <p:txBody>
          <a:bodyPr>
            <a:normAutofit/>
          </a:bodyPr>
          <a:lstStyle/>
          <a:p>
            <a:pPr algn="l"/>
            <a:r>
              <a:rPr lang="el-GR" sz="2000" dirty="0" smtClean="0"/>
              <a:t>Συνάρτηση</a:t>
            </a:r>
            <a:r>
              <a:rPr lang="en-US" sz="2000" dirty="0" smtClean="0"/>
              <a:t> Create:</a:t>
            </a:r>
            <a:endParaRPr lang="el-GR" sz="20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609599" y="1624830"/>
            <a:ext cx="10972798" cy="4185761"/>
          </a:xfrm>
          <a:prstGeom prst="rect">
            <a:avLst/>
          </a:prstGeom>
          <a:solidFill>
            <a:srgbClr val="333333"/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int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sz="1400">
                <a:solidFill>
                  <a:srgbClr val="E2A46E"/>
                </a:solidFill>
                <a:latin typeface="Attribute Mono" panose="020B0509020204030204" pitchFamily="49" charset="0"/>
              </a:rPr>
              <a:t>mycoroutines_create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 sz="1400">
                <a:solidFill>
                  <a:srgbClr val="47A9F0"/>
                </a:solidFill>
                <a:latin typeface="Attribute Mono" panose="020B0509020204030204" pitchFamily="49" charset="0"/>
              </a:rPr>
              <a:t>co_t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*</a:t>
            </a:r>
            <a:r>
              <a:rPr lang="en-US" sz="1400" i="1">
                <a:solidFill>
                  <a:srgbClr val="0EC086"/>
                </a:solidFill>
                <a:latin typeface="Attribute Mono" panose="020B0509020204030204" pitchFamily="49" charset="0"/>
              </a:rPr>
              <a:t>co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,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void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 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 sz="1400" i="1">
                <a:solidFill>
                  <a:srgbClr val="0EC086"/>
                </a:solidFill>
                <a:latin typeface="Attribute Mono" panose="020B0509020204030204" pitchFamily="49" charset="0"/>
              </a:rPr>
              <a:t>body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)(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void*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),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void*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 </a:t>
            </a:r>
            <a:r>
              <a:rPr lang="en-US" sz="1400" i="1">
                <a:solidFill>
                  <a:srgbClr val="0EC086"/>
                </a:solidFill>
                <a:latin typeface="Attribute Mono" panose="020B0509020204030204" pitchFamily="49" charset="0"/>
              </a:rPr>
              <a:t>arg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)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{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 sz="1400" i="1">
                <a:solidFill>
                  <a:srgbClr val="0EC086"/>
                </a:solidFill>
                <a:latin typeface="Attribute Mono" panose="020B0509020204030204" pitchFamily="49" charset="0"/>
              </a:rPr>
              <a:t>co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ctx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=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 (</a:t>
            </a:r>
            <a:r>
              <a:rPr lang="en-US" sz="1400">
                <a:solidFill>
                  <a:srgbClr val="47A9F0"/>
                </a:solidFill>
                <a:latin typeface="Attribute Mono" panose="020B0509020204030204" pitchFamily="49" charset="0"/>
              </a:rPr>
              <a:t>ucontext_t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*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) </a:t>
            </a:r>
            <a:r>
              <a:rPr lang="en-US" sz="1400">
                <a:solidFill>
                  <a:srgbClr val="E2A46E"/>
                </a:solidFill>
                <a:latin typeface="Attribute Mono" panose="020B0509020204030204" pitchFamily="49" charset="0"/>
              </a:rPr>
              <a:t>malloc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sizeof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 sz="1400">
                <a:solidFill>
                  <a:srgbClr val="47A9F0"/>
                </a:solidFill>
                <a:latin typeface="Attribute Mono" panose="020B0509020204030204" pitchFamily="49" charset="0"/>
              </a:rPr>
              <a:t>ucontext_t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));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if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 sz="1400">
                <a:solidFill>
                  <a:srgbClr val="5AB1BC"/>
                </a:solidFill>
                <a:latin typeface="Attribute Mono" panose="020B0509020204030204" pitchFamily="49" charset="0"/>
              </a:rPr>
              <a:t>!</a:t>
            </a:r>
            <a:r>
              <a:rPr lang="en-US" sz="1400" i="1">
                <a:solidFill>
                  <a:srgbClr val="0EC086"/>
                </a:solidFill>
                <a:latin typeface="Attribute Mono" panose="020B0509020204030204" pitchFamily="49" charset="0"/>
              </a:rPr>
              <a:t>co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ctx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)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    {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        </a:t>
            </a:r>
            <a:r>
              <a:rPr lang="en-US" sz="1400">
                <a:solidFill>
                  <a:srgbClr val="E2A46E"/>
                </a:solidFill>
                <a:latin typeface="Attribute Mono" panose="020B0509020204030204" pitchFamily="49" charset="0"/>
              </a:rPr>
              <a:t>PrintError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(__func__, </a:t>
            </a:r>
            <a:r>
              <a:rPr lang="en-US" sz="1400">
                <a:solidFill>
                  <a:srgbClr val="C1E06D"/>
                </a:solidFill>
                <a:latin typeface="Attribute Mono" panose="020B0509020204030204" pitchFamily="49" charset="0"/>
              </a:rPr>
              <a:t>"Malloc error"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);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       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return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-</a:t>
            </a:r>
            <a:r>
              <a:rPr lang="en-US" sz="1400">
                <a:solidFill>
                  <a:srgbClr val="D96C6C"/>
                </a:solidFill>
                <a:latin typeface="Attribute Mono" panose="020B0509020204030204" pitchFamily="49" charset="0"/>
              </a:rPr>
              <a:t>1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;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    }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/>
            </a:r>
            <a:b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</a:b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if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 sz="1400">
                <a:solidFill>
                  <a:srgbClr val="E2A46E"/>
                </a:solidFill>
                <a:latin typeface="Attribute Mono" panose="020B0509020204030204" pitchFamily="49" charset="0"/>
              </a:rPr>
              <a:t>getcontext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 sz="1400" i="1">
                <a:solidFill>
                  <a:srgbClr val="0EC086"/>
                </a:solidFill>
                <a:latin typeface="Attribute Mono" panose="020B0509020204030204" pitchFamily="49" charset="0"/>
              </a:rPr>
              <a:t>co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ctx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)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==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-</a:t>
            </a:r>
            <a:r>
              <a:rPr lang="en-US" sz="1400">
                <a:solidFill>
                  <a:srgbClr val="D96C6C"/>
                </a:solidFill>
                <a:latin typeface="Attribute Mono" panose="020B0509020204030204" pitchFamily="49" charset="0"/>
              </a:rPr>
              <a:t>1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)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    {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        </a:t>
            </a:r>
            <a:r>
              <a:rPr lang="en-US" sz="1400">
                <a:solidFill>
                  <a:srgbClr val="E2A46E"/>
                </a:solidFill>
                <a:latin typeface="Attribute Mono" panose="020B0509020204030204" pitchFamily="49" charset="0"/>
              </a:rPr>
              <a:t>PrintError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(__func__, </a:t>
            </a:r>
            <a:r>
              <a:rPr lang="en-US" sz="1400">
                <a:solidFill>
                  <a:srgbClr val="C1E06D"/>
                </a:solidFill>
                <a:latin typeface="Attribute Mono" panose="020B0509020204030204" pitchFamily="49" charset="0"/>
              </a:rPr>
              <a:t>"getcontext() returned -1"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);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       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return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-</a:t>
            </a:r>
            <a:r>
              <a:rPr lang="en-US" sz="1400">
                <a:solidFill>
                  <a:srgbClr val="D96C6C"/>
                </a:solidFill>
                <a:latin typeface="Attribute Mono" panose="020B0509020204030204" pitchFamily="49" charset="0"/>
              </a:rPr>
              <a:t>1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;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    }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 sz="1400" i="1">
                <a:solidFill>
                  <a:srgbClr val="0EC086"/>
                </a:solidFill>
                <a:latin typeface="Attribute Mono" panose="020B0509020204030204" pitchFamily="49" charset="0"/>
              </a:rPr>
              <a:t>co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ctx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uc_stack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.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ss_sp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=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sz="1400" i="1">
                <a:solidFill>
                  <a:srgbClr val="0EC086"/>
                </a:solidFill>
                <a:latin typeface="Attribute Mono" panose="020B0509020204030204" pitchFamily="49" charset="0"/>
              </a:rPr>
              <a:t>co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stack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;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 sz="1400" i="1">
                <a:solidFill>
                  <a:srgbClr val="0EC086"/>
                </a:solidFill>
                <a:latin typeface="Attribute Mono" panose="020B0509020204030204" pitchFamily="49" charset="0"/>
              </a:rPr>
              <a:t>co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ctx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uc_stack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.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ss_size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=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sizeof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 sz="1400" i="1">
                <a:solidFill>
                  <a:srgbClr val="0EC086"/>
                </a:solidFill>
                <a:latin typeface="Attribute Mono" panose="020B0509020204030204" pitchFamily="49" charset="0"/>
              </a:rPr>
              <a:t>co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stack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);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 sz="1400">
                <a:solidFill>
                  <a:srgbClr val="E2A46E"/>
                </a:solidFill>
                <a:latin typeface="Attribute Mono" panose="020B0509020204030204" pitchFamily="49" charset="0"/>
              </a:rPr>
              <a:t>makecontext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 sz="1400" i="1">
                <a:solidFill>
                  <a:srgbClr val="0EC086"/>
                </a:solidFill>
                <a:latin typeface="Attribute Mono" panose="020B0509020204030204" pitchFamily="49" charset="0"/>
              </a:rPr>
              <a:t>co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 sz="1400">
                <a:solidFill>
                  <a:srgbClr val="0EC086"/>
                </a:solidFill>
                <a:latin typeface="Attribute Mono" panose="020B0509020204030204" pitchFamily="49" charset="0"/>
              </a:rPr>
              <a:t>ctx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, (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void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*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)(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void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))</a:t>
            </a:r>
            <a:r>
              <a:rPr lang="en-US" sz="1400" i="1">
                <a:solidFill>
                  <a:srgbClr val="0EC086"/>
                </a:solidFill>
                <a:latin typeface="Attribute Mono" panose="020B0509020204030204" pitchFamily="49" charset="0"/>
              </a:rPr>
              <a:t>body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, </a:t>
            </a:r>
            <a:r>
              <a:rPr lang="en-US" sz="1400">
                <a:solidFill>
                  <a:srgbClr val="D96C6C"/>
                </a:solidFill>
                <a:latin typeface="Attribute Mono" panose="020B0509020204030204" pitchFamily="49" charset="0"/>
              </a:rPr>
              <a:t>1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, </a:t>
            </a:r>
            <a:r>
              <a:rPr lang="en-US" sz="1400" i="1">
                <a:solidFill>
                  <a:srgbClr val="0EC086"/>
                </a:solidFill>
                <a:latin typeface="Attribute Mono" panose="020B0509020204030204" pitchFamily="49" charset="0"/>
              </a:rPr>
              <a:t>arg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);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 sz="1400">
                <a:solidFill>
                  <a:srgbClr val="877FE0"/>
                </a:solidFill>
                <a:latin typeface="Attribute Mono" panose="020B0509020204030204" pitchFamily="49" charset="0"/>
              </a:rPr>
              <a:t>return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sz="1400">
                <a:solidFill>
                  <a:srgbClr val="D96C6C"/>
                </a:solidFill>
                <a:latin typeface="Attribute Mono" panose="020B0509020204030204" pitchFamily="49" charset="0"/>
              </a:rPr>
              <a:t>0</a:t>
            </a:r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;</a:t>
            </a:r>
          </a:p>
          <a:p>
            <a:r>
              <a:rPr lang="en-US" sz="1400">
                <a:solidFill>
                  <a:srgbClr val="B0B0B0"/>
                </a:solidFill>
                <a:latin typeface="Attribute Mono" panose="020B0509020204030204" pitchFamily="49" charset="0"/>
              </a:rPr>
              <a:t>}</a:t>
            </a:r>
            <a:endParaRPr lang="en-US" sz="1400" b="0">
              <a:solidFill>
                <a:srgbClr val="B0B0B0"/>
              </a:solidFill>
              <a:effectLst/>
              <a:latin typeface="Attribute Mono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691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API </a:t>
            </a:r>
            <a:r>
              <a:rPr lang="el-GR" dirty="0" smtClean="0"/>
              <a:t>βιβλιοθήκης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788981" y="1026010"/>
            <a:ext cx="9144000" cy="464936"/>
          </a:xfrm>
        </p:spPr>
        <p:txBody>
          <a:bodyPr>
            <a:normAutofit/>
          </a:bodyPr>
          <a:lstStyle/>
          <a:p>
            <a:pPr algn="l"/>
            <a:r>
              <a:rPr lang="el-GR" sz="2000" dirty="0" smtClean="0"/>
              <a:t>Συνάρτηση</a:t>
            </a:r>
            <a:r>
              <a:rPr lang="en-US" sz="2000" dirty="0" smtClean="0"/>
              <a:t> Switch To:</a:t>
            </a:r>
            <a:endParaRPr lang="el-GR" sz="20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609599" y="1624830"/>
            <a:ext cx="10972798" cy="3970318"/>
          </a:xfrm>
          <a:prstGeom prst="rect">
            <a:avLst/>
          </a:prstGeom>
          <a:solidFill>
            <a:srgbClr val="333333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877FE0"/>
                </a:solidFill>
                <a:latin typeface="Attribute Mono" panose="020B0509020204030204" pitchFamily="49" charset="0"/>
              </a:rPr>
              <a:t>int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dirty="0" err="1">
                <a:solidFill>
                  <a:srgbClr val="E2A46E"/>
                </a:solidFill>
                <a:latin typeface="Attribute Mono" panose="020B0509020204030204" pitchFamily="49" charset="0"/>
              </a:rPr>
              <a:t>mycoroutines_switchto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 dirty="0" err="1">
                <a:solidFill>
                  <a:srgbClr val="47A9F0"/>
                </a:solidFill>
                <a:latin typeface="Attribute Mono" panose="020B0509020204030204" pitchFamily="49" charset="0"/>
              </a:rPr>
              <a:t>co_t</a:t>
            </a:r>
            <a:r>
              <a:rPr lang="en-US" dirty="0">
                <a:solidFill>
                  <a:srgbClr val="0EC086"/>
                </a:solidFill>
                <a:latin typeface="Attribute Mono" panose="020B0509020204030204" pitchFamily="49" charset="0"/>
              </a:rPr>
              <a:t> </a:t>
            </a:r>
            <a:r>
              <a:rPr lang="en-US" dirty="0">
                <a:solidFill>
                  <a:srgbClr val="877FE0"/>
                </a:solidFill>
                <a:latin typeface="Attribute Mono" panose="020B0509020204030204" pitchFamily="49" charset="0"/>
              </a:rPr>
              <a:t>*</a:t>
            </a:r>
            <a:r>
              <a:rPr lang="en-US" i="1" dirty="0">
                <a:solidFill>
                  <a:srgbClr val="0EC086"/>
                </a:solidFill>
                <a:latin typeface="Attribute Mono" panose="020B0509020204030204" pitchFamily="49" charset="0"/>
              </a:rPr>
              <a:t>co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)</a:t>
            </a:r>
          </a:p>
          <a:p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{</a:t>
            </a:r>
          </a:p>
          <a:p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 dirty="0">
                <a:solidFill>
                  <a:srgbClr val="877FE0"/>
                </a:solidFill>
                <a:latin typeface="Attribute Mono" panose="020B0509020204030204" pitchFamily="49" charset="0"/>
              </a:rPr>
              <a:t>if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 dirty="0">
                <a:solidFill>
                  <a:srgbClr val="5AB1BC"/>
                </a:solidFill>
                <a:latin typeface="Attribute Mono" panose="020B0509020204030204" pitchFamily="49" charset="0"/>
              </a:rPr>
              <a:t>!</a:t>
            </a:r>
            <a:r>
              <a:rPr lang="en-US" i="1" dirty="0">
                <a:solidFill>
                  <a:srgbClr val="0EC086"/>
                </a:solidFill>
                <a:latin typeface="Attribute Mono" panose="020B0509020204030204" pitchFamily="49" charset="0"/>
              </a:rPr>
              <a:t>co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)</a:t>
            </a:r>
          </a:p>
          <a:p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    {</a:t>
            </a:r>
          </a:p>
          <a:p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        </a:t>
            </a:r>
            <a:r>
              <a:rPr lang="en-US" dirty="0" err="1">
                <a:solidFill>
                  <a:srgbClr val="E2A46E"/>
                </a:solidFill>
                <a:latin typeface="Attribute Mono" panose="020B0509020204030204" pitchFamily="49" charset="0"/>
              </a:rPr>
              <a:t>PrintError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(__</a:t>
            </a:r>
            <a:r>
              <a:rPr lang="en-US" dirty="0" err="1">
                <a:solidFill>
                  <a:srgbClr val="B0B0B0"/>
                </a:solidFill>
                <a:latin typeface="Attribute Mono" panose="020B0509020204030204" pitchFamily="49" charset="0"/>
              </a:rPr>
              <a:t>func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__, </a:t>
            </a:r>
            <a:r>
              <a:rPr lang="en-US" dirty="0">
                <a:solidFill>
                  <a:srgbClr val="C1E06D"/>
                </a:solidFill>
                <a:latin typeface="Attribute Mono" panose="020B0509020204030204" pitchFamily="49" charset="0"/>
              </a:rPr>
              <a:t>"Invalid </a:t>
            </a:r>
            <a:r>
              <a:rPr lang="en-US" dirty="0" err="1">
                <a:solidFill>
                  <a:srgbClr val="C1E06D"/>
                </a:solidFill>
                <a:latin typeface="Attribute Mono" panose="020B0509020204030204" pitchFamily="49" charset="0"/>
              </a:rPr>
              <a:t>coroutine</a:t>
            </a:r>
            <a:r>
              <a:rPr lang="en-US" dirty="0">
                <a:solidFill>
                  <a:srgbClr val="C1E06D"/>
                </a:solidFill>
                <a:latin typeface="Attribute Mono" panose="020B0509020204030204" pitchFamily="49" charset="0"/>
              </a:rPr>
              <a:t>"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);</a:t>
            </a:r>
          </a:p>
          <a:p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        </a:t>
            </a:r>
            <a:r>
              <a:rPr lang="en-US" dirty="0">
                <a:solidFill>
                  <a:srgbClr val="877FE0"/>
                </a:solidFill>
                <a:latin typeface="Attribute Mono" panose="020B0509020204030204" pitchFamily="49" charset="0"/>
              </a:rPr>
              <a:t>return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dirty="0">
                <a:solidFill>
                  <a:srgbClr val="877FE0"/>
                </a:solidFill>
                <a:latin typeface="Attribute Mono" panose="020B0509020204030204" pitchFamily="49" charset="0"/>
              </a:rPr>
              <a:t>-</a:t>
            </a:r>
            <a:r>
              <a:rPr lang="en-US" dirty="0">
                <a:solidFill>
                  <a:srgbClr val="D96C6C"/>
                </a:solidFill>
                <a:latin typeface="Attribute Mono" panose="020B0509020204030204" pitchFamily="49" charset="0"/>
              </a:rPr>
              <a:t>1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;</a:t>
            </a:r>
          </a:p>
          <a:p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    }</a:t>
            </a:r>
          </a:p>
          <a:p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 dirty="0">
                <a:solidFill>
                  <a:srgbClr val="877FE0"/>
                </a:solidFill>
                <a:latin typeface="Attribute Mono" panose="020B0509020204030204" pitchFamily="49" charset="0"/>
              </a:rPr>
              <a:t>if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( </a:t>
            </a:r>
            <a:r>
              <a:rPr lang="en-US" dirty="0" err="1">
                <a:solidFill>
                  <a:srgbClr val="E2A46E"/>
                </a:solidFill>
                <a:latin typeface="Attribute Mono" panose="020B0509020204030204" pitchFamily="49" charset="0"/>
              </a:rPr>
              <a:t>setcontext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(</a:t>
            </a:r>
            <a:r>
              <a:rPr lang="en-US" i="1" dirty="0">
                <a:solidFill>
                  <a:srgbClr val="0EC086"/>
                </a:solidFill>
                <a:latin typeface="Attribute Mono" panose="020B0509020204030204" pitchFamily="49" charset="0"/>
              </a:rPr>
              <a:t>co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-&gt;</a:t>
            </a:r>
            <a:r>
              <a:rPr lang="en-US" dirty="0" err="1">
                <a:solidFill>
                  <a:srgbClr val="0EC086"/>
                </a:solidFill>
                <a:latin typeface="Attribute Mono" panose="020B0509020204030204" pitchFamily="49" charset="0"/>
              </a:rPr>
              <a:t>ctx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) </a:t>
            </a:r>
            <a:r>
              <a:rPr lang="en-US" dirty="0">
                <a:solidFill>
                  <a:srgbClr val="877FE0"/>
                </a:solidFill>
                <a:latin typeface="Attribute Mono" panose="020B0509020204030204" pitchFamily="49" charset="0"/>
              </a:rPr>
              <a:t>==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dirty="0">
                <a:solidFill>
                  <a:srgbClr val="877FE0"/>
                </a:solidFill>
                <a:latin typeface="Attribute Mono" panose="020B0509020204030204" pitchFamily="49" charset="0"/>
              </a:rPr>
              <a:t>-</a:t>
            </a:r>
            <a:r>
              <a:rPr lang="en-US" dirty="0">
                <a:solidFill>
                  <a:srgbClr val="D96C6C"/>
                </a:solidFill>
                <a:latin typeface="Attribute Mono" panose="020B0509020204030204" pitchFamily="49" charset="0"/>
              </a:rPr>
              <a:t>1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)</a:t>
            </a:r>
          </a:p>
          <a:p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    {</a:t>
            </a:r>
          </a:p>
          <a:p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        </a:t>
            </a:r>
            <a:r>
              <a:rPr lang="en-US" dirty="0" err="1">
                <a:solidFill>
                  <a:srgbClr val="E2A46E"/>
                </a:solidFill>
                <a:latin typeface="Attribute Mono" panose="020B0509020204030204" pitchFamily="49" charset="0"/>
              </a:rPr>
              <a:t>PrintError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(__</a:t>
            </a:r>
            <a:r>
              <a:rPr lang="en-US" dirty="0" err="1">
                <a:solidFill>
                  <a:srgbClr val="B0B0B0"/>
                </a:solidFill>
                <a:latin typeface="Attribute Mono" panose="020B0509020204030204" pitchFamily="49" charset="0"/>
              </a:rPr>
              <a:t>func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__, </a:t>
            </a:r>
            <a:r>
              <a:rPr lang="en-US" dirty="0">
                <a:solidFill>
                  <a:srgbClr val="C1E06D"/>
                </a:solidFill>
                <a:latin typeface="Attribute Mono" panose="020B0509020204030204" pitchFamily="49" charset="0"/>
              </a:rPr>
              <a:t>"</a:t>
            </a:r>
            <a:r>
              <a:rPr lang="en-US" dirty="0" err="1">
                <a:solidFill>
                  <a:srgbClr val="C1E06D"/>
                </a:solidFill>
                <a:latin typeface="Attribute Mono" panose="020B0509020204030204" pitchFamily="49" charset="0"/>
              </a:rPr>
              <a:t>setcontext</a:t>
            </a:r>
            <a:r>
              <a:rPr lang="en-US" dirty="0">
                <a:solidFill>
                  <a:srgbClr val="C1E06D"/>
                </a:solidFill>
                <a:latin typeface="Attribute Mono" panose="020B0509020204030204" pitchFamily="49" charset="0"/>
              </a:rPr>
              <a:t>() returned -1"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);</a:t>
            </a:r>
          </a:p>
          <a:p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        </a:t>
            </a:r>
            <a:r>
              <a:rPr lang="en-US" dirty="0">
                <a:solidFill>
                  <a:srgbClr val="877FE0"/>
                </a:solidFill>
                <a:latin typeface="Attribute Mono" panose="020B0509020204030204" pitchFamily="49" charset="0"/>
              </a:rPr>
              <a:t>return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dirty="0">
                <a:solidFill>
                  <a:srgbClr val="877FE0"/>
                </a:solidFill>
                <a:latin typeface="Attribute Mono" panose="020B0509020204030204" pitchFamily="49" charset="0"/>
              </a:rPr>
              <a:t>-</a:t>
            </a:r>
            <a:r>
              <a:rPr lang="en-US" dirty="0">
                <a:solidFill>
                  <a:srgbClr val="D96C6C"/>
                </a:solidFill>
                <a:latin typeface="Attribute Mono" panose="020B0509020204030204" pitchFamily="49" charset="0"/>
              </a:rPr>
              <a:t>1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;</a:t>
            </a:r>
          </a:p>
          <a:p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    }</a:t>
            </a:r>
          </a:p>
          <a:p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    </a:t>
            </a:r>
            <a:r>
              <a:rPr lang="en-US" dirty="0">
                <a:solidFill>
                  <a:srgbClr val="877FE0"/>
                </a:solidFill>
                <a:latin typeface="Attribute Mono" panose="020B0509020204030204" pitchFamily="49" charset="0"/>
              </a:rPr>
              <a:t>return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 </a:t>
            </a:r>
            <a:r>
              <a:rPr lang="en-US" dirty="0">
                <a:solidFill>
                  <a:srgbClr val="D96C6C"/>
                </a:solidFill>
                <a:latin typeface="Attribute Mono" panose="020B0509020204030204" pitchFamily="49" charset="0"/>
              </a:rPr>
              <a:t>0</a:t>
            </a:r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;</a:t>
            </a:r>
          </a:p>
          <a:p>
            <a:r>
              <a:rPr lang="en-US" dirty="0">
                <a:solidFill>
                  <a:srgbClr val="B0B0B0"/>
                </a:solidFill>
                <a:latin typeface="Attribute Mono" panose="020B0509020204030204" pitchFamily="49" charset="0"/>
              </a:rPr>
              <a:t>}</a:t>
            </a:r>
            <a:endParaRPr lang="en-US" b="0" dirty="0">
              <a:solidFill>
                <a:srgbClr val="B0B0B0"/>
              </a:solidFill>
              <a:effectLst/>
              <a:latin typeface="Attribute Mono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488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64044" y="178443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Σας ευχαριστούμε!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6" name="Υπότιτλος 2"/>
          <p:cNvSpPr>
            <a:spLocks noGrp="1"/>
          </p:cNvSpPr>
          <p:nvPr>
            <p:ph type="subTitle" idx="1"/>
          </p:nvPr>
        </p:nvSpPr>
        <p:spPr>
          <a:xfrm>
            <a:off x="1536698" y="2927350"/>
            <a:ext cx="9144000" cy="692727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</p:spTree>
    <p:extLst>
      <p:ext uri="{BB962C8B-B14F-4D97-AF65-F5344CB8AC3E}">
        <p14:creationId xmlns:p14="http://schemas.microsoft.com/office/powerpoint/2010/main" val="217269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162</Words>
  <Application>Microsoft Office PowerPoint</Application>
  <PresentationFormat>Ευρεία οθόνη</PresentationFormat>
  <Paragraphs>81</Paragraphs>
  <Slides>6</Slides>
  <Notes>6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6</vt:i4>
      </vt:variant>
    </vt:vector>
  </HeadingPairs>
  <TitlesOfParts>
    <vt:vector size="12" baseType="lpstr">
      <vt:lpstr>Arial</vt:lpstr>
      <vt:lpstr>Attribute Mono</vt:lpstr>
      <vt:lpstr>Calibri</vt:lpstr>
      <vt:lpstr>Calibri Light</vt:lpstr>
      <vt:lpstr>Consolas</vt:lpstr>
      <vt:lpstr>Θέμα του Office</vt:lpstr>
      <vt:lpstr>Coroutines</vt:lpstr>
      <vt:lpstr>API βιβλιοθήκης</vt:lpstr>
      <vt:lpstr>API βιβλιοθήκης</vt:lpstr>
      <vt:lpstr>API βιβλιοθήκης</vt:lpstr>
      <vt:lpstr>API βιβλιοθήκης</vt:lpstr>
      <vt:lpstr>Σας ευχαριστούμε!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thread-safe pipe implementation</dc:title>
  <dc:creator>evan</dc:creator>
  <cp:lastModifiedBy>evan</cp:lastModifiedBy>
  <cp:revision>42</cp:revision>
  <dcterms:created xsi:type="dcterms:W3CDTF">2021-11-01T11:33:56Z</dcterms:created>
  <dcterms:modified xsi:type="dcterms:W3CDTF">2022-01-22T17:18:39Z</dcterms:modified>
</cp:coreProperties>
</file>